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42"/>
  </p:notesMasterIdLst>
  <p:sldIdLst>
    <p:sldId id="256" r:id="rId6"/>
    <p:sldId id="257" r:id="rId7"/>
    <p:sldId id="258" r:id="rId8"/>
    <p:sldId id="259" r:id="rId9"/>
    <p:sldId id="276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91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A77FFB38-43A5-EC40-B3C7-5C494D606A6C}">
          <p14:sldIdLst>
            <p14:sldId id="256"/>
            <p14:sldId id="257"/>
            <p14:sldId id="258"/>
            <p14:sldId id="259"/>
            <p14:sldId id="276"/>
            <p14:sldId id="260"/>
            <p14:sldId id="261"/>
          </p14:sldIdLst>
        </p14:section>
        <p14:section name="Section 2" id="{CAC667CC-EDAC-2348-96B7-9E8E330E8730}">
          <p14:sldIdLst>
            <p14:sldId id="262"/>
            <p14:sldId id="263"/>
            <p14:sldId id="264"/>
            <p14:sldId id="265"/>
            <p14:sldId id="266"/>
          </p14:sldIdLst>
        </p14:section>
        <p14:section name="Section 3" id="{5B6EAFC2-89AE-BA4D-BDB0-4E6EA1E98111}">
          <p14:sldIdLst>
            <p14:sldId id="267"/>
            <p14:sldId id="268"/>
            <p14:sldId id="269"/>
            <p14:sldId id="270"/>
            <p14:sldId id="271"/>
          </p14:sldIdLst>
        </p14:section>
        <p14:section name="Section 4" id="{567C34FB-2EF7-764D-A491-1E43046A6A05}">
          <p14:sldIdLst>
            <p14:sldId id="272"/>
            <p14:sldId id="273"/>
            <p14:sldId id="274"/>
            <p14:sldId id="275"/>
          </p14:sldIdLst>
        </p14:section>
        <p14:section name="Extra" id="{812E98CB-98FD-6746-A589-E06B33665BF6}">
          <p14:sldIdLst>
            <p14:sldId id="291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2F89D-D2D8-47DA-B758-D682E303B838}" v="11" dt="2026-02-25T10:10:56.567"/>
    <p1510:client id="{DCABC637-EE8D-E842-878D-41CCC5E1A13D}" v="72" dt="2026-02-25T05:14:36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38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AF84-76C0-B6E9-C17A-14973D99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7AB19-38A2-B0BE-737E-AD0492861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66D6F-46CB-AB4E-C41C-DCBBD27AF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AE445-80FE-4692-C440-DECCB7FCC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74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A159-6CAB-3C94-8489-A21F630F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6D81A-0A76-A35C-54CF-DD683FBAB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04C0C-0499-0B66-DB9B-6CA5F69AA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70485-F328-F3F0-74F9-40245C5B6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6443" y="841772"/>
            <a:ext cx="5691116" cy="1965866"/>
          </a:xfrm>
        </p:spPr>
        <p:txBody>
          <a:bodyPr anchor="b">
            <a:normAutofit/>
          </a:bodyPr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2882782"/>
            <a:ext cx="5691116" cy="1060568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29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9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36" y="415212"/>
            <a:ext cx="6204855" cy="3006644"/>
          </a:xfrm>
        </p:spPr>
        <p:txBody>
          <a:bodyPr anchor="t">
            <a:normAutofit/>
          </a:bodyPr>
          <a:lstStyle>
            <a:lvl1pPr>
              <a:defRPr sz="405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535" y="3442098"/>
            <a:ext cx="6204855" cy="1038463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1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8055864" cy="8491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486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5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0547"/>
            <a:ext cx="8059341" cy="8574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64301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790171"/>
            <a:ext cx="3868340" cy="2823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4301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790171"/>
            <a:ext cx="3887392" cy="2823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0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2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1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70" y="415212"/>
            <a:ext cx="2696726" cy="1318129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15212"/>
            <a:ext cx="4709806" cy="41148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70" y="1733341"/>
            <a:ext cx="2696726" cy="2796671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3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70" y="418338"/>
            <a:ext cx="2696726" cy="1659235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97490" y="492827"/>
            <a:ext cx="4862765" cy="4166928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1" y="2119603"/>
            <a:ext cx="2689190" cy="2575979"/>
          </a:xfrm>
        </p:spPr>
        <p:txBody>
          <a:bodyPr anchor="b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8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886700" cy="8491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9486" y="1260674"/>
            <a:ext cx="7886700" cy="33720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36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26166" y="433873"/>
            <a:ext cx="1535278" cy="4198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433873"/>
            <a:ext cx="6597516" cy="41988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7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7990184" cy="849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286649"/>
            <a:ext cx="7990184" cy="3445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4839752"/>
            <a:ext cx="2620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4839752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2" y="4839752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3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5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hyperlink" Target="https://zkrepl.dev/" TargetMode="Externa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hyperlink" Target="https://github.com/fortytwolabs/hackathon-2026-fortytwo-labs-deck" TargetMode="Externa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42_Logo_for_Dark_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"/>
            <a:ext cx="14630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1390" y="1160340"/>
            <a:ext cx="457200" cy="36576"/>
          </a:xfrm>
          <a:prstGeom prst="rect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71390" y="1160340"/>
            <a:ext cx="36576" cy="457200"/>
          </a:xfrm>
          <a:prstGeom prst="rect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48640" y="1234440"/>
            <a:ext cx="14630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30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LAB SESSION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6916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kumimoji="0" lang="en-US" sz="4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Attribute Proofs</a:t>
            </a:r>
            <a:endParaRPr kumimoji="0" lang="en-US" sz="4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864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B3B3B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Veritasia × CineVault   •   Circom mini-lab   •   End-to-end demo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Debrup Chatterjee  |  February 2026  |  Hackathon Lecture Series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858000" y="914400"/>
            <a:ext cx="36576" cy="320040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Graphic 14" descr="Processor with solid fill">
            <a:extLst>
              <a:ext uri="{FF2B5EF4-FFF2-40B4-BE49-F238E27FC236}">
                <a16:creationId xmlns:a16="http://schemas.microsoft.com/office/drawing/2014/main" id="{A49D33AB-5577-8ADD-BB7D-6FBDD635F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2038" y="1765935"/>
            <a:ext cx="1433322" cy="14333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096BB9-EA8C-19D3-C2BD-455C3DAE5B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585" y="85370"/>
            <a:ext cx="979550" cy="1111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30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9184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34440" y="1435608"/>
            <a:ext cx="146304" cy="146304"/>
          </a:xfrm>
          <a:prstGeom prst="ellipse">
            <a:avLst/>
          </a:prstGeom>
          <a:solidFill>
            <a:srgbClr val="FB7D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517904" cy="25603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4672" y="1920240"/>
            <a:ext cx="10058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3774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01752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Framing &amp;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862072" y="1435608"/>
            <a:ext cx="146304" cy="146304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176272" y="1737360"/>
            <a:ext cx="1517904" cy="25603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432304" y="1920240"/>
            <a:ext cx="10058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432304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24" y="2377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67712" y="301752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Circom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Mini-Lab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489704" y="1435608"/>
            <a:ext cx="146304" cy="146304"/>
          </a:xfrm>
          <a:prstGeom prst="ellipse">
            <a:avLst/>
          </a:prstGeom>
          <a:solidFill>
            <a:srgbClr val="FB7D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803904" y="1737360"/>
            <a:ext cx="1517904" cy="25603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059936" y="1920240"/>
            <a:ext cx="10058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059936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23774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95344" y="301752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117336" y="1435608"/>
            <a:ext cx="146304" cy="146304"/>
          </a:xfrm>
          <a:prstGeom prst="ellipse">
            <a:avLst/>
          </a:prstGeom>
          <a:solidFill>
            <a:srgbClr val="44444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431536" y="1737360"/>
            <a:ext cx="1517904" cy="25603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5687568" y="1920240"/>
            <a:ext cx="10058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5687568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23774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22976" y="301752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744968" y="143560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7059168" y="1737360"/>
            <a:ext cx="1517904" cy="25603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7315200" y="1920240"/>
            <a:ext cx="1005840" cy="256032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731520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B7D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237744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50608" y="301752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5" descr="/home/claude/assets/42_Logo_for_Dark_Backgrou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predicate about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without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the attribute.</a:t>
            </a:r>
            <a:endParaRPr lang="en-US" sz="340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2377440" cy="7315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694944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 over hidden data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2377440" cy="7315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94767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6949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learns only accept / reject</a:t>
            </a:r>
            <a:endParaRPr lang="en-US" sz="1000"/>
          </a:p>
        </p:txBody>
      </p:sp>
      <p:sp>
        <p:nvSpPr>
          <p:cNvPr id="13" name="Shape 9"/>
          <p:cNvSpPr/>
          <p:nvPr/>
        </p:nvSpPr>
        <p:spPr>
          <a:xfrm>
            <a:off x="6400800" y="2651760"/>
            <a:ext cx="2377440" cy="7315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81635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Multi-verifier</a:t>
            </a:r>
            <a:endParaRPr lang="en-US" sz="1300"/>
          </a:p>
        </p:txBody>
      </p:sp>
      <p:sp>
        <p:nvSpPr>
          <p:cNvPr id="16" name="Text 11"/>
          <p:cNvSpPr/>
          <p:nvPr/>
        </p:nvSpPr>
        <p:spPr>
          <a:xfrm>
            <a:off x="694944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credential, many verifiers</a:t>
            </a:r>
            <a:endParaRPr lang="en-US" sz="1000"/>
          </a:p>
        </p:txBody>
      </p:sp>
      <p:sp>
        <p:nvSpPr>
          <p:cNvPr id="17" name="Shape 12"/>
          <p:cNvSpPr/>
          <p:nvPr/>
        </p:nvSpPr>
        <p:spPr>
          <a:xfrm>
            <a:off x="6400800" y="3520440"/>
            <a:ext cx="2377440" cy="731520"/>
          </a:xfrm>
          <a:prstGeom prst="rect">
            <a:avLst/>
          </a:prstGeom>
          <a:solidFill>
            <a:srgbClr val="141414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68503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1300"/>
          </a:p>
        </p:txBody>
      </p:sp>
      <p:sp>
        <p:nvSpPr>
          <p:cNvPr id="20" name="Text 14"/>
          <p:cNvSpPr/>
          <p:nvPr/>
        </p:nvSpPr>
        <p:spPr>
          <a:xfrm>
            <a:off x="69494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challenge prevents replay</a:t>
            </a:r>
            <a:endParaRPr lang="en-US" sz="100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1280160" cy="292608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54864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/>
          </a:p>
        </p:txBody>
      </p:sp>
      <p:sp>
        <p:nvSpPr>
          <p:cNvPr id="23" name="Shape 17"/>
          <p:cNvSpPr/>
          <p:nvPr/>
        </p:nvSpPr>
        <p:spPr>
          <a:xfrm>
            <a:off x="2011680" y="4251960"/>
            <a:ext cx="1280160" cy="292608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201168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3474720" y="4251960"/>
            <a:ext cx="1280160" cy="292608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347472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00"/>
          </a:p>
        </p:txBody>
      </p:sp>
      <p:sp>
        <p:nvSpPr>
          <p:cNvPr id="27" name="Shape 21"/>
          <p:cNvSpPr/>
          <p:nvPr/>
        </p:nvSpPr>
        <p:spPr>
          <a:xfrm>
            <a:off x="4937760" y="4251960"/>
            <a:ext cx="1280160" cy="292608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4937760" y="42519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000"/>
          </a:p>
        </p:txBody>
      </p:sp>
      <p:sp>
        <p:nvSpPr>
          <p:cNvPr id="29" name="Text 23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0" name="Text 24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1" name="Image 4" descr="/home/claude/assets/42_Logo_for_Dark_Backg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70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Veritasia ↔ CineVault</a:t>
            </a:r>
            <a:endParaRPr lang="en-US" sz="240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4"/>
          <a:srcRect l="8019" r="5183" b="7292"/>
          <a:stretch>
            <a:fillRect/>
          </a:stretch>
        </p:blipFill>
        <p:spPr>
          <a:xfrm>
            <a:off x="168029" y="2583180"/>
            <a:ext cx="3306691" cy="23545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4709160" y="731520"/>
            <a:ext cx="0" cy="1188720"/>
          </a:xfrm>
          <a:prstGeom prst="lin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502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7800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Credential</a:t>
            </a:r>
            <a:endParaRPr lang="en-US" sz="1600"/>
          </a:p>
        </p:txBody>
      </p:sp>
      <p:sp>
        <p:nvSpPr>
          <p:cNvPr id="9" name="Text 5"/>
          <p:cNvSpPr/>
          <p:nvPr/>
        </p:nvSpPr>
        <p:spPr>
          <a:xfrm>
            <a:off x="5257800" y="822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Veritasia issues a credential with attributes (e.g., birth year) to the holder.</a:t>
            </a:r>
            <a:endParaRPr lang="en-US" sz="1100"/>
          </a:p>
        </p:txBody>
      </p:sp>
      <p:sp>
        <p:nvSpPr>
          <p:cNvPr id="10" name="Text 6"/>
          <p:cNvSpPr/>
          <p:nvPr/>
        </p:nvSpPr>
        <p:spPr>
          <a:xfrm>
            <a:off x="4069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/>
          </a:p>
        </p:txBody>
      </p:sp>
      <p:sp>
        <p:nvSpPr>
          <p:cNvPr id="11" name="Shape 7"/>
          <p:cNvSpPr/>
          <p:nvPr/>
        </p:nvSpPr>
        <p:spPr>
          <a:xfrm>
            <a:off x="4709160" y="2194560"/>
            <a:ext cx="0" cy="1188720"/>
          </a:xfrm>
          <a:prstGeom prst="lin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9659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578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Challenge</a:t>
            </a:r>
            <a:endParaRPr lang="en-US" sz="1600"/>
          </a:p>
        </p:txBody>
      </p:sp>
      <p:sp>
        <p:nvSpPr>
          <p:cNvPr id="14" name="Text 9"/>
          <p:cNvSpPr/>
          <p:nvPr/>
        </p:nvSpPr>
        <p:spPr>
          <a:xfrm>
            <a:off x="525780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CineVault sends a fresh nonce requesting an eligibility proof (age ≥ 18).</a:t>
            </a:r>
            <a:endParaRPr lang="en-US" sz="1100"/>
          </a:p>
        </p:txBody>
      </p:sp>
      <p:sp>
        <p:nvSpPr>
          <p:cNvPr id="15" name="Text 10"/>
          <p:cNvSpPr/>
          <p:nvPr/>
        </p:nvSpPr>
        <p:spPr>
          <a:xfrm>
            <a:off x="4069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/>
          </a:p>
        </p:txBody>
      </p:sp>
      <p:sp>
        <p:nvSpPr>
          <p:cNvPr id="16" name="Shape 11"/>
          <p:cNvSpPr/>
          <p:nvPr/>
        </p:nvSpPr>
        <p:spPr>
          <a:xfrm>
            <a:off x="4709160" y="3657600"/>
            <a:ext cx="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4290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Without Revealing</a:t>
            </a:r>
            <a:endParaRPr lang="en-US" sz="1600"/>
          </a:p>
        </p:txBody>
      </p:sp>
      <p:sp>
        <p:nvSpPr>
          <p:cNvPr id="19" name="Text 13"/>
          <p:cNvSpPr/>
          <p:nvPr/>
        </p:nvSpPr>
        <p:spPr>
          <a:xfrm>
            <a:off x="525780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generates a ZK proof - verifier learns only accept/reject, never the raw attribute.</a:t>
            </a:r>
            <a:endParaRPr lang="en-US" sz="1100"/>
          </a:p>
        </p:txBody>
      </p:sp>
      <p:sp>
        <p:nvSpPr>
          <p:cNvPr id="20" name="Text 14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21" name="Text 15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2" name="Image 4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93082" y="4796028"/>
            <a:ext cx="690155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BF14C-B292-B3C3-2DE7-64ED9C3B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11FA58-F01F-EA6F-5E66-F0C10D7B2796}"/>
              </a:ext>
            </a:extLst>
          </p:cNvPr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EA8C69-5126-9A65-6550-7180E8B90405}"/>
              </a:ext>
            </a:extLst>
          </p:cNvPr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story</a:t>
            </a:r>
            <a:endParaRPr lang="en-US" sz="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DA9840-E0E6-02A4-3AC5-64F3F461B084}"/>
              </a:ext>
            </a:extLst>
          </p:cNvPr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 case</a:t>
            </a:r>
            <a:endParaRPr lang="en-US" sz="320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465FD29-74A2-29C5-F0CA-5379C44A5DB5}"/>
              </a:ext>
            </a:extLst>
          </p:cNvPr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B48D85E5-7E0A-CF4E-A478-BB7D459FF531}"/>
              </a:ext>
            </a:extLst>
          </p:cNvPr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1" name="Image 4" descr="/home/claude/assets/42_Logo_for_Dark_Background.png">
            <a:extLst>
              <a:ext uri="{FF2B5EF4-FFF2-40B4-BE49-F238E27FC236}">
                <a16:creationId xmlns:a16="http://schemas.microsoft.com/office/drawing/2014/main" id="{3A75AF60-C874-1DD6-7859-AF9A2593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  <p:pic>
        <p:nvPicPr>
          <p:cNvPr id="32" name="Graphic 31" descr="Theatre outline">
            <a:extLst>
              <a:ext uri="{FF2B5EF4-FFF2-40B4-BE49-F238E27FC236}">
                <a16:creationId xmlns:a16="http://schemas.microsoft.com/office/drawing/2014/main" id="{72941887-AD8A-80EC-3018-FD56CF2AA9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6616" y="1498873"/>
            <a:ext cx="2690219" cy="269021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06F3C33-E629-3E33-E34E-D1F3587C531F}"/>
              </a:ext>
            </a:extLst>
          </p:cNvPr>
          <p:cNvGrpSpPr/>
          <p:nvPr/>
        </p:nvGrpSpPr>
        <p:grpSpPr>
          <a:xfrm>
            <a:off x="3980795" y="1143000"/>
            <a:ext cx="1077310" cy="1052899"/>
            <a:chOff x="3980795" y="1143000"/>
            <a:chExt cx="1077310" cy="1052899"/>
          </a:xfrm>
        </p:grpSpPr>
        <p:pic>
          <p:nvPicPr>
            <p:cNvPr id="34" name="Graphic 33" descr="Video camera outline">
              <a:extLst>
                <a:ext uri="{FF2B5EF4-FFF2-40B4-BE49-F238E27FC236}">
                  <a16:creationId xmlns:a16="http://schemas.microsoft.com/office/drawing/2014/main" id="{119F75FD-292A-F30A-4265-7626473D4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14800" y="1143000"/>
              <a:ext cx="914400" cy="9144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F1FEF1D-F348-DB2D-0095-0A9160DB7E97}"/>
                </a:ext>
              </a:extLst>
            </p:cNvPr>
            <p:cNvSpPr txBox="1"/>
            <p:nvPr/>
          </p:nvSpPr>
          <p:spPr>
            <a:xfrm>
              <a:off x="3980795" y="1918900"/>
              <a:ext cx="10773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rgbClr val="8899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CineVault</a:t>
              </a:r>
              <a:endParaRPr lang="en-IN" sz="120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27C558BB-5934-AB3E-6DA5-296E2342A1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738" y="2183130"/>
            <a:ext cx="2271862" cy="22718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BBA9A7D-AA45-DAD7-9D6E-9315DD5538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140" y="2391578"/>
            <a:ext cx="842422" cy="1881410"/>
          </a:xfrm>
          <a:prstGeom prst="rect">
            <a:avLst/>
          </a:prstGeom>
        </p:spPr>
      </p:pic>
      <p:sp>
        <p:nvSpPr>
          <p:cNvPr id="38" name="Cloud 37">
            <a:extLst>
              <a:ext uri="{FF2B5EF4-FFF2-40B4-BE49-F238E27FC236}">
                <a16:creationId xmlns:a16="http://schemas.microsoft.com/office/drawing/2014/main" id="{74A6639B-08AC-BB19-6514-0AC4C85AF8DD}"/>
              </a:ext>
            </a:extLst>
          </p:cNvPr>
          <p:cNvSpPr/>
          <p:nvPr/>
        </p:nvSpPr>
        <p:spPr>
          <a:xfrm>
            <a:off x="1567224" y="1816905"/>
            <a:ext cx="1280160" cy="548640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I </a:t>
            </a:r>
            <a:r>
              <a:rPr lang="en-GB" sz="900" err="1"/>
              <a:t>wanna</a:t>
            </a:r>
            <a:r>
              <a:rPr lang="en-GB" sz="900"/>
              <a:t> see the movie!</a:t>
            </a:r>
            <a:endParaRPr lang="en-IN" sz="900"/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6A7AD6F7-8662-EE61-2299-51C3FF5EC0B9}"/>
              </a:ext>
            </a:extLst>
          </p:cNvPr>
          <p:cNvSpPr/>
          <p:nvPr/>
        </p:nvSpPr>
        <p:spPr>
          <a:xfrm>
            <a:off x="4917562" y="2178749"/>
            <a:ext cx="1280160" cy="548640"/>
          </a:xfrm>
          <a:prstGeom prst="clou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Show me you are of age !!</a:t>
            </a:r>
            <a:endParaRPr lang="en-IN" sz="9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9D8183-F73B-599C-9ACE-E0DACB7F0555}"/>
              </a:ext>
            </a:extLst>
          </p:cNvPr>
          <p:cNvSpPr/>
          <p:nvPr/>
        </p:nvSpPr>
        <p:spPr>
          <a:xfrm>
            <a:off x="6461177" y="2253014"/>
            <a:ext cx="23610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After Dark Protocol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32932B-E8E3-B8D2-0282-A322D88206C2}"/>
              </a:ext>
            </a:extLst>
          </p:cNvPr>
          <p:cNvCxnSpPr/>
          <p:nvPr/>
        </p:nvCxnSpPr>
        <p:spPr>
          <a:xfrm>
            <a:off x="3731171" y="1387366"/>
            <a:ext cx="0" cy="3205655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208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ZKP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→ ZKP Objects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09060" cy="14173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864" cy="14173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6304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1188720" y="173736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Input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3543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year, membership tier, score - the value hidden from the verifier.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686300" y="1325880"/>
            <a:ext cx="3909060" cy="14173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86300" y="1325880"/>
            <a:ext cx="54864" cy="14173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6380" y="146304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</a:t>
            </a:r>
            <a:endParaRPr lang="en-US" sz="1600"/>
          </a:p>
        </p:txBody>
      </p:sp>
      <p:sp>
        <p:nvSpPr>
          <p:cNvPr id="15" name="Text 11"/>
          <p:cNvSpPr/>
          <p:nvPr/>
        </p:nvSpPr>
        <p:spPr>
          <a:xfrm>
            <a:off x="5326380" y="173736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Statement</a:t>
            </a:r>
            <a:endParaRPr lang="en-US" sz="1000"/>
          </a:p>
        </p:txBody>
      </p:sp>
      <p:sp>
        <p:nvSpPr>
          <p:cNvPr id="16" name="Text 12"/>
          <p:cNvSpPr/>
          <p:nvPr/>
        </p:nvSpPr>
        <p:spPr>
          <a:xfrm>
            <a:off x="4869180" y="2057400"/>
            <a:ext cx="3543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 the circuit enforces: age ≥ 18, tier ∈ {gold, platinum}.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548640" y="2926080"/>
            <a:ext cx="3909060" cy="14173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48640" y="2926080"/>
            <a:ext cx="54864" cy="14173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906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06324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Output</a:t>
            </a:r>
            <a:endParaRPr lang="en-US" sz="1600"/>
          </a:p>
        </p:txBody>
      </p:sp>
      <p:sp>
        <p:nvSpPr>
          <p:cNvPr id="21" name="Text 16"/>
          <p:cNvSpPr/>
          <p:nvPr/>
        </p:nvSpPr>
        <p:spPr>
          <a:xfrm>
            <a:off x="1188720" y="333756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000"/>
          </a:p>
        </p:txBody>
      </p:sp>
      <p:sp>
        <p:nvSpPr>
          <p:cNvPr id="22" name="Text 17"/>
          <p:cNvSpPr/>
          <p:nvPr/>
        </p:nvSpPr>
        <p:spPr>
          <a:xfrm>
            <a:off x="731520" y="3657600"/>
            <a:ext cx="3543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bit the verifier learns - nothing more, nothing less.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4686300" y="2926080"/>
            <a:ext cx="3909060" cy="14173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686300" y="2926080"/>
            <a:ext cx="54864" cy="14173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30906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6380" y="3063240"/>
            <a:ext cx="3086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Context</a:t>
            </a:r>
            <a:endParaRPr lang="en-US" sz="1600"/>
          </a:p>
        </p:txBody>
      </p:sp>
      <p:sp>
        <p:nvSpPr>
          <p:cNvPr id="27" name="Text 21"/>
          <p:cNvSpPr/>
          <p:nvPr/>
        </p:nvSpPr>
        <p:spPr>
          <a:xfrm>
            <a:off x="5326380" y="333756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+ Params</a:t>
            </a:r>
            <a:endParaRPr lang="en-US" sz="1000"/>
          </a:p>
        </p:txBody>
      </p:sp>
      <p:sp>
        <p:nvSpPr>
          <p:cNvPr id="28" name="Text 22"/>
          <p:cNvSpPr/>
          <p:nvPr/>
        </p:nvSpPr>
        <p:spPr>
          <a:xfrm>
            <a:off x="4869180" y="3657600"/>
            <a:ext cx="3543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binds proof to session; issuer root anchors trust chain.</a:t>
            </a:r>
            <a:endParaRPr lang="en-US" sz="1100"/>
          </a:p>
        </p:txBody>
      </p:sp>
      <p:sp>
        <p:nvSpPr>
          <p:cNvPr id="29" name="Text 23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0" name="Text 24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1" name="Image 4" descr="/home/claude/assets/42_Logo_for_Dark_Backg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Message Flow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94560" cy="10972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" cy="109728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94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118872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Veritasia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3291840" y="1828800"/>
            <a:ext cx="2194560" cy="10972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54864" cy="109728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/ Prover</a:t>
            </a:r>
            <a:endParaRPr lang="en-US" sz="1400"/>
          </a:p>
        </p:txBody>
      </p:sp>
      <p:sp>
        <p:nvSpPr>
          <p:cNvPr id="14" name="Text 10"/>
          <p:cNvSpPr/>
          <p:nvPr/>
        </p:nvSpPr>
        <p:spPr>
          <a:xfrm>
            <a:off x="393192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Wallet</a:t>
            </a:r>
            <a:endParaRPr lang="en-US" sz="1000"/>
          </a:p>
        </p:txBody>
      </p:sp>
      <p:sp>
        <p:nvSpPr>
          <p:cNvPr id="15" name="Shape 11"/>
          <p:cNvSpPr/>
          <p:nvPr/>
        </p:nvSpPr>
        <p:spPr>
          <a:xfrm>
            <a:off x="6400800" y="1371600"/>
            <a:ext cx="2194560" cy="10972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00800" y="1371600"/>
            <a:ext cx="54864" cy="109728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7373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1554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7040880" y="1874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CineVault</a:t>
            </a:r>
            <a:endParaRPr lang="en-US" sz="1000"/>
          </a:p>
        </p:txBody>
      </p:sp>
      <p:sp>
        <p:nvSpPr>
          <p:cNvPr id="20" name="Shape 15"/>
          <p:cNvSpPr/>
          <p:nvPr/>
        </p:nvSpPr>
        <p:spPr>
          <a:xfrm>
            <a:off x="6400800" y="3017520"/>
            <a:ext cx="2194560" cy="10972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00800" y="3017520"/>
            <a:ext cx="54864" cy="109728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3832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B</a:t>
            </a:r>
            <a:endParaRPr lang="en-US" sz="1400"/>
          </a:p>
        </p:txBody>
      </p:sp>
      <p:sp>
        <p:nvSpPr>
          <p:cNvPr id="24" name="Text 18"/>
          <p:cNvSpPr/>
          <p:nvPr/>
        </p:nvSpPr>
        <p:spPr>
          <a:xfrm>
            <a:off x="7040880" y="35204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Service</a:t>
            </a:r>
            <a:endParaRPr lang="en-US" sz="1000"/>
          </a:p>
        </p:txBody>
      </p:sp>
      <p:sp>
        <p:nvSpPr>
          <p:cNvPr id="25" name="Shape 19"/>
          <p:cNvSpPr/>
          <p:nvPr/>
        </p:nvSpPr>
        <p:spPr>
          <a:xfrm>
            <a:off x="2743200" y="2377440"/>
            <a:ext cx="548640" cy="0"/>
          </a:xfrm>
          <a:prstGeom prst="line">
            <a:avLst/>
          </a:prstGeom>
          <a:noFill/>
          <a:ln w="25400">
            <a:solidFill>
              <a:srgbClr val="FB7D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5486400" y="1920240"/>
            <a:ext cx="914400" cy="0"/>
          </a:xfrm>
          <a:prstGeom prst="line">
            <a:avLst/>
          </a:prstGeom>
          <a:noFill/>
          <a:ln w="25400">
            <a:solidFill>
              <a:srgbClr val="FB7D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5486400" y="2377440"/>
            <a:ext cx="914400" cy="822960"/>
          </a:xfrm>
          <a:prstGeom prst="line">
            <a:avLst/>
          </a:prstGeom>
          <a:noFill/>
          <a:ln w="25400">
            <a:solidFill>
              <a:srgbClr val="FB7D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2468880" y="1600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/ root</a:t>
            </a:r>
            <a:endParaRPr lang="en-US" sz="800"/>
          </a:p>
        </p:txBody>
      </p:sp>
      <p:sp>
        <p:nvSpPr>
          <p:cNvPr id="29" name="Text 23"/>
          <p:cNvSpPr/>
          <p:nvPr/>
        </p:nvSpPr>
        <p:spPr>
          <a:xfrm>
            <a:off x="5212080" y="1325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+ signals</a:t>
            </a:r>
            <a:endParaRPr lang="en-US" sz="800"/>
          </a:p>
        </p:txBody>
      </p:sp>
      <p:sp>
        <p:nvSpPr>
          <p:cNvPr id="30" name="Text 24"/>
          <p:cNvSpPr/>
          <p:nvPr/>
        </p:nvSpPr>
        <p:spPr>
          <a:xfrm>
            <a:off x="5212080" y="3383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+ signals</a:t>
            </a:r>
            <a:endParaRPr lang="en-US" sz="800"/>
          </a:p>
        </p:txBody>
      </p:sp>
      <p:sp>
        <p:nvSpPr>
          <p:cNvPr id="31" name="Text 25"/>
          <p:cNvSpPr/>
          <p:nvPr/>
        </p:nvSpPr>
        <p:spPr>
          <a:xfrm>
            <a:off x="594360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nonce</a:t>
            </a:r>
            <a:endParaRPr lang="en-US" sz="800"/>
          </a:p>
        </p:txBody>
      </p:sp>
      <p:sp>
        <p:nvSpPr>
          <p:cNvPr id="32" name="Text 26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3" name="Text 27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4" name="Image 4" descr="/home/claude/assets/42_Logo_for_Dark_Backgrou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28800"/>
            <a:ext cx="109728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Mini-Lab</a:t>
            </a:r>
            <a:endParaRPr lang="en-US" sz="440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≥ 18 circuit  •  Compile  •  Generate witness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9" name="Image 1" descr="/home/claude/assets/42_Logo_for_Dark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solidFill>
            <a:srgbClr val="FB7D0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36192" y="1554480"/>
            <a:ext cx="585216" cy="585216"/>
          </a:xfrm>
          <a:prstGeom prst="ellipse">
            <a:avLst/>
          </a:prstGeom>
          <a:solidFill>
            <a:srgbClr val="FFF2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164592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68580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constraint-system DSL for authoring ZK circuits. Signal relationships become R1CS constraints.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560320" cy="54864"/>
          </a:xfrm>
          <a:prstGeom prst="rect">
            <a:avLst/>
          </a:prstGeom>
          <a:solidFill>
            <a:srgbClr val="CC66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79392" y="1554480"/>
            <a:ext cx="585216" cy="585216"/>
          </a:xfrm>
          <a:prstGeom prst="ellipse">
            <a:avLst/>
          </a:prstGeom>
          <a:solidFill>
            <a:srgbClr val="FFF2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64592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2000"/>
          </a:p>
        </p:txBody>
      </p:sp>
      <p:sp>
        <p:nvSpPr>
          <p:cNvPr id="16" name="Text 12"/>
          <p:cNvSpPr/>
          <p:nvPr/>
        </p:nvSpPr>
        <p:spPr>
          <a:xfrm>
            <a:off x="342900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predicates and math relations - not UI, networking, or business logic.</a:t>
            </a:r>
            <a:endParaRPr lang="en-US" sz="1200"/>
          </a:p>
        </p:txBody>
      </p:sp>
      <p:sp>
        <p:nvSpPr>
          <p:cNvPr id="17" name="Shape 13"/>
          <p:cNvSpPr/>
          <p:nvPr/>
        </p:nvSpPr>
        <p:spPr>
          <a:xfrm>
            <a:off x="6035040" y="12801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035040" y="1280160"/>
            <a:ext cx="2560320" cy="54864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022592" y="1554480"/>
            <a:ext cx="585216" cy="585216"/>
          </a:xfrm>
          <a:prstGeom prst="ellipse">
            <a:avLst/>
          </a:prstGeom>
          <a:solidFill>
            <a:srgbClr val="FFF2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164592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/>
          </a:p>
        </p:txBody>
      </p:sp>
      <p:sp>
        <p:nvSpPr>
          <p:cNvPr id="22" name="Text 17"/>
          <p:cNvSpPr/>
          <p:nvPr/>
        </p:nvSpPr>
        <p:spPr>
          <a:xfrm>
            <a:off x="617220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artifacts (.r1cs, .wasm, .zkey) feed the prover/verifier toolchain.</a:t>
            </a:r>
            <a:endParaRPr lang="en-US" sz="1200"/>
          </a:p>
        </p:txBody>
      </p:sp>
      <p:sp>
        <p:nvSpPr>
          <p:cNvPr id="23" name="Text 18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24" name="Text 19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5" name="Image 3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93082" y="4796028"/>
            <a:ext cx="690155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→ Proof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389888" cy="23774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87552" y="1600200"/>
            <a:ext cx="512064" cy="512064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87552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28600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34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2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104" y="2423160"/>
            <a:ext cx="201168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12848" y="1371600"/>
            <a:ext cx="1389888" cy="23774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2651760" y="1600200"/>
            <a:ext cx="512064" cy="512064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65176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24" y="22860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58568" y="2834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(R1CS)</a:t>
            </a:r>
            <a:endParaRPr lang="en-US" sz="12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2423160"/>
            <a:ext cx="201168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877056" y="1371600"/>
            <a:ext cx="1389888" cy="23774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4315968" y="1600200"/>
            <a:ext cx="512064" cy="512064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4315968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2286000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22776" y="2834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</a:t>
            </a:r>
            <a:endParaRPr lang="en-US" sz="120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423160"/>
            <a:ext cx="201168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541264" y="1371600"/>
            <a:ext cx="1389888" cy="23774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6"/>
          <p:cNvSpPr/>
          <p:nvPr/>
        </p:nvSpPr>
        <p:spPr>
          <a:xfrm>
            <a:off x="5980176" y="1600200"/>
            <a:ext cx="512064" cy="512064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7"/>
          <p:cNvSpPr/>
          <p:nvPr/>
        </p:nvSpPr>
        <p:spPr>
          <a:xfrm>
            <a:off x="5980176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286000"/>
            <a:ext cx="402336" cy="40233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586984" y="2834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20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423160"/>
            <a:ext cx="201168" cy="27432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205472" y="1371600"/>
            <a:ext cx="1389888" cy="23774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0"/>
          <p:cNvSpPr/>
          <p:nvPr/>
        </p:nvSpPr>
        <p:spPr>
          <a:xfrm>
            <a:off x="7644384" y="1600200"/>
            <a:ext cx="512064" cy="512064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1"/>
          <p:cNvSpPr/>
          <p:nvPr/>
        </p:nvSpPr>
        <p:spPr>
          <a:xfrm>
            <a:off x="7644384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2286000"/>
            <a:ext cx="402336" cy="40233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251192" y="283464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/>
          </a:p>
        </p:txBody>
      </p:sp>
      <p:sp>
        <p:nvSpPr>
          <p:cNvPr id="34" name="Text 23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5" name="Text 24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6" name="Image 9" descr="/home/claude/assets/42_Logo_for_Dark_Backgroun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MINI-LAB</a:t>
            </a:r>
            <a:endParaRPr lang="en-US" sz="70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</a:t>
            </a:r>
            <a:endParaRPr lang="en-US" sz="3000"/>
          </a:p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 Circuit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20040" y="2377440"/>
            <a:ext cx="182880" cy="182880"/>
          </a:xfrm>
          <a:prstGeom prst="ellipse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2377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</a:rPr>
              <a:t>✓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circuit template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182880" cy="182880"/>
          </a:xfrm>
          <a:prstGeom prst="ellipse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</a:rPr>
              <a:t>✓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9436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to R1CS + WASM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182880" cy="182880"/>
          </a:xfrm>
          <a:prstGeom prst="ellipse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</a:rPr>
              <a:t>✓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94360" y="3264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check witness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206240" y="731520"/>
            <a:ext cx="4572000" cy="384048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206240" y="731520"/>
            <a:ext cx="457200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315968" y="81381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62272" y="81381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08576" y="81381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15968" y="1024128"/>
            <a:ext cx="4352544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cd circuits/age-check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err="1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circom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err="1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ageCheck.circom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--r1cs --wasm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instances: 1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non-linear constraints: 2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successfully.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 generate_witness.js \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ageCheck.wasm input.json witness.wtns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Witness generated. ✓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4" name="Image 0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93082" y="4796028"/>
            <a:ext cx="690155" cy="256032"/>
          </a:xfrm>
          <a:prstGeom prst="rect">
            <a:avLst/>
          </a:prstGeom>
        </p:spPr>
      </p:pic>
      <p:pic>
        <p:nvPicPr>
          <p:cNvPr id="26" name="Picture 25">
            <a:hlinkClick r:id="rId5"/>
            <a:extLst>
              <a:ext uri="{FF2B5EF4-FFF2-40B4-BE49-F238E27FC236}">
                <a16:creationId xmlns:a16="http://schemas.microsoft.com/office/drawing/2014/main" id="{36E62EDC-0DF0-0D98-A474-81664DFAB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8703" y="3637528"/>
            <a:ext cx="914400" cy="1191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SKETCH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 Predicate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926080" cy="310896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864" cy="310896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40140" y="1828800"/>
            <a:ext cx="270725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INPUTS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birthYear - user's birth year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    - verifier challenge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 b="1" kern="0" spc="200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INPUTS</a:t>
            </a:r>
            <a:endParaRPr lang="en-US" sz="10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currentYear</a:t>
            </a:r>
            <a:endParaRPr lang="en-US" sz="10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thresholdAge  - 18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 b="1" kern="0" spc="200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                   </a:t>
            </a:r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- 1 = accept, 0 = reject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749040" y="1280160"/>
            <a:ext cx="4846320" cy="310896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49040" y="1280160"/>
            <a:ext cx="484632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58768" y="13624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005072" y="13624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51376" y="13624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58768" y="1572768"/>
            <a:ext cx="4626864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err="1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ageCheck.circom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</a:t>
            </a:r>
            <a:r>
              <a:rPr lang="en-US" sz="1100" err="1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circom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2.0.0;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AgeCheck() {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input birthYear;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input currentYear;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input thresholdAge;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input nonce;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FF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output ok;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 constraint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age &lt;== currentYear - birthYear;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FF9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 &lt;== age &gt;= thresholdAge ? 1 : 0;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17" name="Image 0" descr="/home/claude/assets/42_Logo_for_Dark_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28800"/>
            <a:ext cx="109728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</a:t>
            </a:r>
            <a:endParaRPr lang="en-US" sz="440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→ Prove → Verify  •  Three services, one flow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9" name="Image 1" descr="/home/claude/assets/42_Logo_for_Dark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68265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29840" cy="29260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39240" y="1417320"/>
            <a:ext cx="548640" cy="548640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39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392" y="219456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43200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Enroll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225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Veritasia issues a credential with attributes to the holder wallet.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3307080" y="1188720"/>
            <a:ext cx="2529840" cy="29260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19456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07080" y="2743200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Proof</a:t>
            </a:r>
            <a:endParaRPr lang="en-US" sz="1600"/>
          </a:p>
        </p:txBody>
      </p:sp>
      <p:sp>
        <p:nvSpPr>
          <p:cNvPr id="16" name="Text 12"/>
          <p:cNvSpPr/>
          <p:nvPr/>
        </p:nvSpPr>
        <p:spPr>
          <a:xfrm>
            <a:off x="3444240" y="3200400"/>
            <a:ext cx="225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generates a ZK proof bound to CineVault's nonce challenge.</a:t>
            </a:r>
            <a:endParaRPr lang="en-US" sz="1100"/>
          </a:p>
        </p:txBody>
      </p:sp>
      <p:sp>
        <p:nvSpPr>
          <p:cNvPr id="17" name="Shape 13"/>
          <p:cNvSpPr/>
          <p:nvPr/>
        </p:nvSpPr>
        <p:spPr>
          <a:xfrm>
            <a:off x="6065520" y="1188720"/>
            <a:ext cx="2529840" cy="292608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056120" y="1417320"/>
            <a:ext cx="548640" cy="548640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056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272" y="219456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65520" y="2743200"/>
            <a:ext cx="252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proof </a:t>
            </a:r>
            <a:endParaRPr lang="en-US" sz="1600"/>
          </a:p>
        </p:txBody>
      </p:sp>
      <p:sp>
        <p:nvSpPr>
          <p:cNvPr id="22" name="Text 17"/>
          <p:cNvSpPr/>
          <p:nvPr/>
        </p:nvSpPr>
        <p:spPr>
          <a:xfrm>
            <a:off x="6202680" y="3200400"/>
            <a:ext cx="225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CineVault verifies the proof shared by the user and accepts or rejects the proof.</a:t>
            </a:r>
            <a:endParaRPr lang="en-US" sz="1100"/>
          </a:p>
        </p:txBody>
      </p:sp>
      <p:sp>
        <p:nvSpPr>
          <p:cNvPr id="23" name="Text 18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24" name="Text 19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5" name="Image 3" descr="/home/claude/assets/42_Logo_for_Dark_Backgrou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229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(Veritasia)</a:t>
            </a:r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user registry &amp; attribute store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152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credential with issuer private key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Merkle root / public params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4389120" y="1371600"/>
            <a:ext cx="4206240" cy="256032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389120" y="1371600"/>
            <a:ext cx="420624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98848" y="145389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45152" y="145389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791456" y="145389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498848" y="1664208"/>
            <a:ext cx="3986784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 issuer/start.js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 service running on :3001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curl -X POST :3001/enroll \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 "userId": "alice" }'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credential issued, root updated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19" name="Text 16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93082" y="4796028"/>
            <a:ext cx="690155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229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/ Holder</a:t>
            </a:r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nonce from verifier endpoint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3152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credential + private attributes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73152" cy="3200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2532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ZK proof + public signals</a:t>
            </a:r>
            <a:endParaRPr lang="en-US" sz="1400"/>
          </a:p>
        </p:txBody>
      </p:sp>
      <p:sp>
        <p:nvSpPr>
          <p:cNvPr id="12" name="Shape 9"/>
          <p:cNvSpPr/>
          <p:nvPr/>
        </p:nvSpPr>
        <p:spPr>
          <a:xfrm>
            <a:off x="4389120" y="1371600"/>
            <a:ext cx="4206240" cy="256032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389120" y="1371600"/>
            <a:ext cx="420624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98848" y="145389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45152" y="145389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791456" y="145389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498848" y="1664208"/>
            <a:ext cx="3986784" cy="2194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 prover/prove.js --nonce abc123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credential for alice...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witness...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Computing proof (Groth16)...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generated ✓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signals: [1, ...]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19" name="Text 16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93082" y="4796028"/>
            <a:ext cx="690155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141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Verifier(s)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749040" cy="329184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864" cy="329184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53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- CineVault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685800" y="1783080"/>
            <a:ext cx="3611880" cy="2423160"/>
          </a:xfrm>
          <a:prstGeom prst="rect">
            <a:avLst/>
          </a:prstGeom>
          <a:solidFill>
            <a:srgbClr val="0D0D0D"/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3611880" cy="25603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95528" y="18653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41832" y="18653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088136" y="18653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95528" y="2075688"/>
            <a:ext cx="3392424" cy="2057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curl :3002/nonce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 "nonce": "abc123" }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B7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curl -X POST :3002/verify \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 "proof": ..., "signals": ... }'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ACCEPT ✓</a:t>
            </a:r>
            <a:endParaRPr lang="en-US" sz="1100"/>
          </a:p>
        </p:txBody>
      </p:sp>
      <p:sp>
        <p:nvSpPr>
          <p:cNvPr id="25" name="Text 21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26" name="Text 22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27" name="Image 2" descr="/home/claude/assets/42_Logo_for_Dark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828800"/>
            <a:ext cx="109728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Landscape</a:t>
            </a:r>
            <a:endParaRPr lang="en-US" sz="4400"/>
          </a:p>
        </p:txBody>
      </p:sp>
      <p:sp>
        <p:nvSpPr>
          <p:cNvPr id="5" name="Text 2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Options, deliverables &amp; resources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9" name="Image 1" descr="/home/claude/assets/42_Logo_for_Dark_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Options</a:t>
            </a:r>
            <a:endParaRPr lang="en-US" sz="30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560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7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7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Size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7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7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7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B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Groth16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(per-circuit)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proof, fast verification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setup per circuit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B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PLONK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(one-time)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 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SRS, reusable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larger proofs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B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Halo 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(IPA)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~1–5 KB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trusted setup, recursive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verification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B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Bulletproofs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~700 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proofs, no setup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verification time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B7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STARKs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(FRI)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~50–200 KB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Post-quantum, scalable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5E5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proofs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vary by curve, implementation, and statement complexity.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8" name="Text 5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9" name="Image 0" descr="/home/claude/assets/42_Logo_for_Dark_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solidFill>
            <a:srgbClr val="FB7D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Ship &amp; What's Next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310896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864" cy="310896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777240" y="1920240"/>
            <a:ext cx="219456" cy="219456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77240" y="1920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1143000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(protocol + dataflow)</a:t>
            </a:r>
          </a:p>
        </p:txBody>
      </p:sp>
      <p:sp>
        <p:nvSpPr>
          <p:cNvPr id="12" name="Shape 9"/>
          <p:cNvSpPr/>
          <p:nvPr/>
        </p:nvSpPr>
        <p:spPr>
          <a:xfrm>
            <a:off x="777240" y="2468880"/>
            <a:ext cx="219456" cy="219456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7240" y="2468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143000" y="244144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(issuer/holder/verifier(s))</a:t>
            </a:r>
          </a:p>
        </p:txBody>
      </p:sp>
      <p:sp>
        <p:nvSpPr>
          <p:cNvPr id="15" name="Shape 12"/>
          <p:cNvSpPr/>
          <p:nvPr/>
        </p:nvSpPr>
        <p:spPr>
          <a:xfrm>
            <a:off x="777240" y="3017520"/>
            <a:ext cx="219456" cy="219456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7724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114300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demo script (happy path)</a:t>
            </a:r>
          </a:p>
        </p:txBody>
      </p:sp>
      <p:sp>
        <p:nvSpPr>
          <p:cNvPr id="18" name="Shape 15"/>
          <p:cNvSpPr/>
          <p:nvPr/>
        </p:nvSpPr>
        <p:spPr>
          <a:xfrm>
            <a:off x="777240" y="3566160"/>
            <a:ext cx="219456" cy="219456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7724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114300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/ evaluation report</a:t>
            </a:r>
          </a:p>
        </p:txBody>
      </p:sp>
      <p:sp>
        <p:nvSpPr>
          <p:cNvPr id="21" name="Shape 18"/>
          <p:cNvSpPr/>
          <p:nvPr/>
        </p:nvSpPr>
        <p:spPr>
          <a:xfrm>
            <a:off x="4663440" y="1234440"/>
            <a:ext cx="3931920" cy="3108960"/>
          </a:xfrm>
          <a:prstGeom prst="rect">
            <a:avLst/>
          </a:prstGeom>
          <a:solidFill>
            <a:srgbClr val="1A1412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663440" y="1234440"/>
            <a:ext cx="54864" cy="310896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371600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578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Ideas</a:t>
            </a:r>
            <a:endParaRPr lang="en-US" sz="1600"/>
          </a:p>
        </p:txBody>
      </p:sp>
      <p:sp>
        <p:nvSpPr>
          <p:cNvPr id="25" name="Shape 21"/>
          <p:cNvSpPr/>
          <p:nvPr/>
        </p:nvSpPr>
        <p:spPr>
          <a:xfrm>
            <a:off x="4892040" y="187452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1206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membership / range predicates</a:t>
            </a:r>
            <a:endParaRPr lang="en-US" sz="1100"/>
          </a:p>
        </p:txBody>
      </p:sp>
      <p:sp>
        <p:nvSpPr>
          <p:cNvPr id="27" name="Shape 23"/>
          <p:cNvSpPr/>
          <p:nvPr/>
        </p:nvSpPr>
        <p:spPr>
          <a:xfrm>
            <a:off x="4892040" y="228600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12064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Groth16 for PLONK (universal SRS)</a:t>
            </a:r>
            <a:endParaRPr lang="en-US" sz="1100"/>
          </a:p>
        </p:txBody>
      </p:sp>
      <p:sp>
        <p:nvSpPr>
          <p:cNvPr id="29" name="Shape 25"/>
          <p:cNvSpPr/>
          <p:nvPr/>
        </p:nvSpPr>
        <p:spPr>
          <a:xfrm>
            <a:off x="4892040" y="269748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51206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revocation via on-chain nullifiers</a:t>
            </a:r>
            <a:endParaRPr lang="en-US" sz="1100"/>
          </a:p>
        </p:txBody>
      </p:sp>
      <p:sp>
        <p:nvSpPr>
          <p:cNvPr id="31" name="Shape 27"/>
          <p:cNvSpPr/>
          <p:nvPr/>
        </p:nvSpPr>
        <p:spPr>
          <a:xfrm>
            <a:off x="4892040" y="310896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1206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wallet UI</a:t>
            </a:r>
            <a:endParaRPr lang="en-US" sz="1100"/>
          </a:p>
        </p:txBody>
      </p:sp>
      <p:sp>
        <p:nvSpPr>
          <p:cNvPr id="33" name="Shape 29"/>
          <p:cNvSpPr/>
          <p:nvPr/>
        </p:nvSpPr>
        <p:spPr>
          <a:xfrm>
            <a:off x="4892040" y="352044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512064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DID / Verifiable Credentials</a:t>
            </a:r>
            <a:endParaRPr lang="en-US" sz="1100"/>
          </a:p>
        </p:txBody>
      </p:sp>
      <p:sp>
        <p:nvSpPr>
          <p:cNvPr id="35" name="Shape 31"/>
          <p:cNvSpPr/>
          <p:nvPr/>
        </p:nvSpPr>
        <p:spPr>
          <a:xfrm>
            <a:off x="4892040" y="3931920"/>
            <a:ext cx="128016" cy="128016"/>
          </a:xfrm>
          <a:prstGeom prst="ellipse">
            <a:avLst/>
          </a:prstGeom>
          <a:solidFill>
            <a:srgbClr val="FB7D0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proof times across protocols</a:t>
            </a:r>
            <a:endParaRPr lang="en-US" sz="110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944C1E15-3CBE-99E1-CE64-A73D18A77789}"/>
              </a:ext>
            </a:extLst>
          </p:cNvPr>
          <p:cNvSpPr/>
          <p:nvPr/>
        </p:nvSpPr>
        <p:spPr>
          <a:xfrm>
            <a:off x="779132" y="4056780"/>
            <a:ext cx="219456" cy="219456"/>
          </a:xfrm>
          <a:prstGeom prst="ellipse">
            <a:avLst/>
          </a:prstGeom>
          <a:solidFill>
            <a:srgbClr val="FB7D00"/>
          </a:solidFill>
          <a:ln/>
          <a:effectLst>
            <a:outerShdw blurRad="190500" dist="50800" dir="16200000" algn="bl" rotWithShape="0">
              <a:srgbClr val="FB7D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38" name="Text 34"/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39" name="Image 2" descr="/home/claude/assets/42_Logo_for_Dark_Backg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  <p:sp>
        <p:nvSpPr>
          <p:cNvPr id="42" name="Text 16">
            <a:extLst>
              <a:ext uri="{FF2B5EF4-FFF2-40B4-BE49-F238E27FC236}">
                <a16:creationId xmlns:a16="http://schemas.microsoft.com/office/drawing/2014/main" id="{785C24AC-8D5A-6833-DCFF-24AFAD40F385}"/>
              </a:ext>
            </a:extLst>
          </p:cNvPr>
          <p:cNvSpPr/>
          <p:nvPr/>
        </p:nvSpPr>
        <p:spPr>
          <a:xfrm>
            <a:off x="786384" y="405762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</a:rPr>
              <a:t>✓</a:t>
            </a:r>
            <a:endParaRPr lang="en-US" sz="110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AFB29B88-FB6B-AF0E-89EA-D0D2658FEEBD}"/>
              </a:ext>
            </a:extLst>
          </p:cNvPr>
          <p:cNvSpPr/>
          <p:nvPr/>
        </p:nvSpPr>
        <p:spPr>
          <a:xfrm>
            <a:off x="1152144" y="403019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demo video (3–5 min)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1440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794760" cy="30175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79476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Lab</a:t>
            </a:r>
            <a:endParaRPr lang="en-US" sz="18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59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385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1097280" y="2148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600" err="1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sz="600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600" err="1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fortytwolabs</a:t>
            </a:r>
            <a:r>
              <a:rPr lang="en-US" sz="600">
                <a:solidFill>
                  <a:schemeClr val="bg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/hackathon-2026-fortytwo-labs-deck</a:t>
            </a:r>
            <a:endParaRPr lang="en-US" sz="60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4871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Runbook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1097280" y="2697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repo/</a:t>
            </a:r>
            <a:r>
              <a:rPr lang="en-US" sz="900" err="1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9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6324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0358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zkREPL (fallback)</a:t>
            </a:r>
            <a:endParaRPr lang="en-US" sz="1300"/>
          </a:p>
        </p:txBody>
      </p:sp>
      <p:sp>
        <p:nvSpPr>
          <p:cNvPr id="15" name="Text 10"/>
          <p:cNvSpPr/>
          <p:nvPr/>
        </p:nvSpPr>
        <p:spPr>
          <a:xfrm>
            <a:off x="1097280" y="32461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zkrepl.dev</a:t>
            </a:r>
            <a:endParaRPr lang="en-US" sz="9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584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PDF</a:t>
            </a:r>
            <a:endParaRPr lang="en-US" sz="1300"/>
          </a:p>
        </p:txBody>
      </p:sp>
      <p:sp>
        <p:nvSpPr>
          <p:cNvPr id="18" name="Text 12"/>
          <p:cNvSpPr/>
          <p:nvPr/>
        </p:nvSpPr>
        <p:spPr>
          <a:xfrm>
            <a:off x="1097280" y="37947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repo /ppt/</a:t>
            </a:r>
            <a:endParaRPr lang="en-US" sz="900"/>
          </a:p>
        </p:txBody>
      </p:sp>
      <p:sp>
        <p:nvSpPr>
          <p:cNvPr id="19" name="Shape 13"/>
          <p:cNvSpPr/>
          <p:nvPr/>
        </p:nvSpPr>
        <p:spPr>
          <a:xfrm>
            <a:off x="4800600" y="1234440"/>
            <a:ext cx="3794760" cy="3017520"/>
          </a:xfrm>
          <a:prstGeom prst="rect">
            <a:avLst/>
          </a:prstGeom>
          <a:solidFill>
            <a:srgbClr val="141418">
              <a:alpha val="70000"/>
            </a:srgbClr>
          </a:solidFill>
          <a:ln w="6350">
            <a:solidFill>
              <a:srgbClr val="44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800600" y="1234440"/>
            <a:ext cx="379476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498348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B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/ Reference</a:t>
            </a:r>
            <a:endParaRPr lang="en-US" sz="18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965960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19385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Documentation</a:t>
            </a:r>
            <a:endParaRPr lang="en-US" sz="1300"/>
          </a:p>
        </p:txBody>
      </p:sp>
      <p:sp>
        <p:nvSpPr>
          <p:cNvPr id="24" name="Text 17"/>
          <p:cNvSpPr/>
          <p:nvPr/>
        </p:nvSpPr>
        <p:spPr>
          <a:xfrm>
            <a:off x="5349240" y="214884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docs.circom.io</a:t>
            </a:r>
            <a:endParaRPr lang="en-US" sz="9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24871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snarkjs (iden3)</a:t>
            </a:r>
            <a:endParaRPr lang="en-US" sz="1300"/>
          </a:p>
        </p:txBody>
      </p:sp>
      <p:sp>
        <p:nvSpPr>
          <p:cNvPr id="27" name="Text 19"/>
          <p:cNvSpPr/>
          <p:nvPr/>
        </p:nvSpPr>
        <p:spPr>
          <a:xfrm>
            <a:off x="5349240" y="26974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github.com/iden3/snarkjs</a:t>
            </a:r>
            <a:endParaRPr lang="en-US" sz="90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6324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49240" y="30358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Groth16 / PLONK Papers</a:t>
            </a:r>
            <a:endParaRPr lang="en-US" sz="1300"/>
          </a:p>
        </p:txBody>
      </p:sp>
      <p:sp>
        <p:nvSpPr>
          <p:cNvPr id="30" name="Text 21"/>
          <p:cNvSpPr/>
          <p:nvPr/>
        </p:nvSpPr>
        <p:spPr>
          <a:xfrm>
            <a:off x="5349240" y="32461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eprint.iacr.org</a:t>
            </a:r>
            <a:endParaRPr lang="en-US" sz="9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11880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49240" y="3584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Bulletproofs / Halo2 / STARKs</a:t>
            </a:r>
            <a:endParaRPr lang="en-US" sz="1300"/>
          </a:p>
        </p:txBody>
      </p:sp>
      <p:sp>
        <p:nvSpPr>
          <p:cNvPr id="33" name="Text 23"/>
          <p:cNvSpPr/>
          <p:nvPr/>
        </p:nvSpPr>
        <p:spPr>
          <a:xfrm>
            <a:off x="5349240" y="37947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Various - see runbook</a:t>
            </a:r>
            <a:endParaRPr lang="en-US" sz="900"/>
          </a:p>
        </p:txBody>
      </p:sp>
      <p:pic>
        <p:nvPicPr>
          <p:cNvPr id="34" name="Image 8" descr="/home/claude/assets/42_Logo_for_Dark_Backgrou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86300"/>
            <a:ext cx="137160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194560" y="47320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Today. Future Ready.</a:t>
            </a:r>
            <a:endParaRPr lang="en-US" sz="100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6108BCC-4BA2-5FFD-2BD1-FD3FB49407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8173" y="92954"/>
            <a:ext cx="815595" cy="9254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5CD70-DE83-840F-37AF-6847747D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4FD8DE1-71D0-6F37-C212-0118385165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0E14F47-3F0F-6950-C792-D2C33401912C}"/>
              </a:ext>
            </a:extLst>
          </p:cNvPr>
          <p:cNvSpPr/>
          <p:nvPr/>
        </p:nvSpPr>
        <p:spPr>
          <a:xfrm>
            <a:off x="548640" y="1828800"/>
            <a:ext cx="1097280" cy="45720"/>
          </a:xfrm>
          <a:prstGeom prst="rect">
            <a:avLst/>
          </a:prstGeom>
          <a:solidFill>
            <a:srgbClr val="FB7D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AFBD360-26A7-B61D-E057-B9BB4B0185E2}"/>
              </a:ext>
            </a:extLst>
          </p:cNvPr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Mini Lab Slides</a:t>
            </a:r>
            <a:endParaRPr lang="en-US" sz="4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F57C6FC-1B0E-13C3-4001-DC38BA394DD3}"/>
              </a:ext>
            </a:extLst>
          </p:cNvPr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Resources </a:t>
            </a:r>
            <a:endParaRPr lang="en-US" sz="16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F2B897-A629-6352-CA1E-2DBFA7C7B43E}"/>
              </a:ext>
            </a:extLst>
          </p:cNvPr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0" b="1">
                <a:solidFill>
                  <a:schemeClr val="accent2"/>
                </a:solidFill>
                <a:latin typeface="Calibri" pitchFamily="34" charset="0"/>
                <a:cs typeface="Calibri" pitchFamily="34" charset="-120"/>
              </a:rPr>
              <a:t>#</a:t>
            </a:r>
            <a:endParaRPr lang="en-US" sz="8000">
              <a:solidFill>
                <a:schemeClr val="accent2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F1228A-44F0-23FB-9686-E5E42F8DDAC7}"/>
              </a:ext>
            </a:extLst>
          </p:cNvPr>
          <p:cNvSpPr/>
          <p:nvPr/>
        </p:nvSpPr>
        <p:spPr>
          <a:xfrm>
            <a:off x="54864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  •  ZK Attribute Proofs</a:t>
            </a:r>
            <a:endParaRPr lang="en-US" sz="8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2A7C96-DA04-4F5A-F81C-48F596DF8324}"/>
              </a:ext>
            </a:extLst>
          </p:cNvPr>
          <p:cNvSpPr/>
          <p:nvPr/>
        </p:nvSpPr>
        <p:spPr>
          <a:xfrm>
            <a:off x="4206240" y="48234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800"/>
          </a:p>
        </p:txBody>
      </p:sp>
      <p:pic>
        <p:nvPicPr>
          <p:cNvPr id="9" name="Image 1" descr="/home/claude/assets/42_Logo_for_Dark_Background.png">
            <a:extLst>
              <a:ext uri="{FF2B5EF4-FFF2-40B4-BE49-F238E27FC236}">
                <a16:creationId xmlns:a16="http://schemas.microsoft.com/office/drawing/2014/main" id="{D40BC71A-1E11-004A-687C-3338E2847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96028"/>
            <a:ext cx="914400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01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E5E37-AD05-DB1B-A3FF-CD6ADE10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520550F-0330-4051-965A-CD8A3ED3305D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D259F-5F61-2A75-710C-D0CDEBDD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A506-202A-F766-1AEE-6C6E6D05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23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EC606A5-92A6-8C28-4AFE-E464869578A6}"/>
              </a:ext>
            </a:extLst>
          </p:cNvPr>
          <p:cNvSpPr>
            <a:spLocks noGrp="1"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5605C7E-465C-F726-D342-7A6C78D6EAD5}"/>
              </a:ext>
            </a:extLst>
          </p:cNvPr>
          <p:cNvSpPr>
            <a:spLocks noGrp="1"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23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3991515-E406-EB1C-394B-C3BBE40796F6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Arithmetic Circuits</a:t>
            </a:r>
            <a:endParaRPr lang="en-US" sz="2700" b="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D49D919-3BFF-EFD3-0FDF-67ADBE532E14}"/>
              </a:ext>
            </a:extLst>
          </p:cNvPr>
          <p:cNvSpPr>
            <a:spLocks noGrp="1"/>
          </p:cNvSpPr>
          <p:nvPr/>
        </p:nvSpPr>
        <p:spPr>
          <a:xfrm>
            <a:off x="407530" y="1153052"/>
            <a:ext cx="5860049" cy="344537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Fix a finite field                                              for some prime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 &gt; 2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Arithmetic circuit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Directed Acyclic Graph(DAG) where internal nodes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+ or 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×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 and inputs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1, 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, …, </a:t>
            </a:r>
            <a:r>
              <a:rPr lang="en-US" sz="1350" err="1">
                <a:solidFill>
                  <a:prstClr val="white"/>
                </a:solidFill>
                <a:latin typeface="Selawik"/>
              </a:rPr>
              <a:t>x</a:t>
            </a:r>
            <a:r>
              <a:rPr lang="en-US" sz="1350" baseline="-25000" err="1">
                <a:solidFill>
                  <a:prstClr val="white"/>
                </a:solidFill>
                <a:latin typeface="Neue Haas Grotesk Text Pro"/>
              </a:rPr>
              <a:t>n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Defines an n variate polynomial with an evaluation recipe.</a:t>
            </a: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587ACB69-E398-EA67-68C2-6E3833E5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3" name="Picture 12" descr="Indian Statistical... - Indian Statistical Institute, Kolkata">
            <a:extLst>
              <a:ext uri="{FF2B5EF4-FFF2-40B4-BE49-F238E27FC236}">
                <a16:creationId xmlns:a16="http://schemas.microsoft.com/office/drawing/2014/main" id="{AB2681D7-B94C-2071-9FD3-63192187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4DA43D-9DD4-9946-555C-9A0E18815999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Graphic 1" descr="equation">
            <a:extLst>
              <a:ext uri="{FF2B5EF4-FFF2-40B4-BE49-F238E27FC236}">
                <a16:creationId xmlns:a16="http://schemas.microsoft.com/office/drawing/2014/main" id="{E549EFDB-1357-FF56-9905-0355E29FD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2485" y="1249552"/>
            <a:ext cx="2060740" cy="202529"/>
          </a:xfrm>
          <a:prstGeom prst="rect">
            <a:avLst/>
          </a:prstGeom>
        </p:spPr>
      </p:pic>
      <p:pic>
        <p:nvPicPr>
          <p:cNvPr id="3" name="Graphic 2" descr="equation">
            <a:extLst>
              <a:ext uri="{FF2B5EF4-FFF2-40B4-BE49-F238E27FC236}">
                <a16:creationId xmlns:a16="http://schemas.microsoft.com/office/drawing/2014/main" id="{D9F34788-A07D-3A8C-24C5-6663C4701F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3124" y="1619822"/>
            <a:ext cx="1059687" cy="16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09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95F44-4289-A9CB-2C76-BE19D051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3A31D-8DF2-6C0D-22FC-425E56E2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520550F-0330-4051-965A-CD8A3ED3305D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AE55-A9BA-9899-23B2-51D8CC42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5D081-462E-A2E0-D913-3342597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24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F263760-16AA-628F-1420-729A7733928C}"/>
              </a:ext>
            </a:extLst>
          </p:cNvPr>
          <p:cNvSpPr>
            <a:spLocks noGrp="1"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580BEB4-1099-9013-5694-35946B826FC9}"/>
              </a:ext>
            </a:extLst>
          </p:cNvPr>
          <p:cNvSpPr>
            <a:spLocks noGrp="1"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24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2943004-2FDF-AD1A-93DD-DFDE6FEF0851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Arithmetic Circuits</a:t>
            </a:r>
            <a:endParaRPr lang="en-US" sz="2700" b="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4ABDF2-BDCD-23BC-7687-B2FE367DC0DE}"/>
              </a:ext>
            </a:extLst>
          </p:cNvPr>
          <p:cNvSpPr>
            <a:spLocks noGrp="1"/>
          </p:cNvSpPr>
          <p:nvPr/>
        </p:nvSpPr>
        <p:spPr>
          <a:xfrm>
            <a:off x="407530" y="1153052"/>
            <a:ext cx="5860049" cy="344537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Fix a finite field                                              for some prime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 &gt; 2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Arithmetic circuit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Directed Acyclic Graph(DAG) where internal nodes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+ or 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×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 and inputs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1, 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, …, </a:t>
            </a:r>
            <a:r>
              <a:rPr lang="en-US" sz="1350" err="1">
                <a:solidFill>
                  <a:prstClr val="white"/>
                </a:solidFill>
                <a:latin typeface="Selawik"/>
              </a:rPr>
              <a:t>x</a:t>
            </a:r>
            <a:r>
              <a:rPr lang="en-US" sz="1350" baseline="-25000" err="1">
                <a:solidFill>
                  <a:prstClr val="white"/>
                </a:solidFill>
                <a:latin typeface="Neue Haas Grotesk Text Pro"/>
              </a:rPr>
              <a:t>n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Defines an n variate polynomial with an evaluation recipe.</a:t>
            </a: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FDD3727B-1553-888B-A531-FE4B1247C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3" name="Picture 12" descr="Indian Statistical... - Indian Statistical Institute, Kolkata">
            <a:extLst>
              <a:ext uri="{FF2B5EF4-FFF2-40B4-BE49-F238E27FC236}">
                <a16:creationId xmlns:a16="http://schemas.microsoft.com/office/drawing/2014/main" id="{392E1357-3BBC-E530-E87D-F0EE7B924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3FE5D7-5878-8125-B524-FA2F19FC1161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Graphic 1" descr="equation">
            <a:extLst>
              <a:ext uri="{FF2B5EF4-FFF2-40B4-BE49-F238E27FC236}">
                <a16:creationId xmlns:a16="http://schemas.microsoft.com/office/drawing/2014/main" id="{29039A8D-E8C5-6F46-F900-C7306FEC2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2485" y="1249552"/>
            <a:ext cx="2060740" cy="202529"/>
          </a:xfrm>
          <a:prstGeom prst="rect">
            <a:avLst/>
          </a:prstGeom>
        </p:spPr>
      </p:pic>
      <p:pic>
        <p:nvPicPr>
          <p:cNvPr id="3" name="Graphic 2" descr="equation">
            <a:extLst>
              <a:ext uri="{FF2B5EF4-FFF2-40B4-BE49-F238E27FC236}">
                <a16:creationId xmlns:a16="http://schemas.microsoft.com/office/drawing/2014/main" id="{C0A55A44-D4E9-8ADD-57E3-690CC4A482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3124" y="1619822"/>
            <a:ext cx="1059687" cy="167089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7F263F7-091D-D9F4-4844-9253B911C351}"/>
              </a:ext>
            </a:extLst>
          </p:cNvPr>
          <p:cNvSpPr/>
          <p:nvPr/>
        </p:nvSpPr>
        <p:spPr>
          <a:xfrm>
            <a:off x="6516584" y="412667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AC4B628-F121-D8A6-0DBE-10A259DEEAF2}"/>
              </a:ext>
            </a:extLst>
          </p:cNvPr>
          <p:cNvSpPr/>
          <p:nvPr/>
        </p:nvSpPr>
        <p:spPr>
          <a:xfrm>
            <a:off x="7474032" y="4126674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324467-C54E-D471-7043-FF1EB8D245C5}"/>
              </a:ext>
            </a:extLst>
          </p:cNvPr>
          <p:cNvSpPr/>
          <p:nvPr/>
        </p:nvSpPr>
        <p:spPr>
          <a:xfrm>
            <a:off x="8342415" y="412667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98C0663-3ED9-C482-D80E-E6AE23C585AF}"/>
              </a:ext>
            </a:extLst>
          </p:cNvPr>
          <p:cNvSpPr/>
          <p:nvPr/>
        </p:nvSpPr>
        <p:spPr>
          <a:xfrm>
            <a:off x="7963889" y="3325091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+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DD5BE8A-384B-D603-9E2A-1848650CAC9F}"/>
              </a:ext>
            </a:extLst>
          </p:cNvPr>
          <p:cNvSpPr/>
          <p:nvPr/>
        </p:nvSpPr>
        <p:spPr>
          <a:xfrm>
            <a:off x="7021285" y="3325090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+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318FF3B-43DC-B06A-004F-3EA6AD9C925A}"/>
              </a:ext>
            </a:extLst>
          </p:cNvPr>
          <p:cNvSpPr/>
          <p:nvPr/>
        </p:nvSpPr>
        <p:spPr>
          <a:xfrm>
            <a:off x="7474031" y="262741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×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84CE4A-0C20-549C-41AA-AF8ADCA70ABC}"/>
              </a:ext>
            </a:extLst>
          </p:cNvPr>
          <p:cNvCxnSpPr/>
          <p:nvPr/>
        </p:nvCxnSpPr>
        <p:spPr>
          <a:xfrm flipV="1">
            <a:off x="6806045" y="3688773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7259A4-9EF6-E555-64D8-E900336F8290}"/>
              </a:ext>
            </a:extLst>
          </p:cNvPr>
          <p:cNvCxnSpPr>
            <a:cxnSpLocks/>
          </p:cNvCxnSpPr>
          <p:nvPr/>
        </p:nvCxnSpPr>
        <p:spPr>
          <a:xfrm flipH="1" flipV="1">
            <a:off x="7243948" y="3673929"/>
            <a:ext cx="348837" cy="42305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D964AB-BB82-5AB4-A42C-3F049FD568E0}"/>
              </a:ext>
            </a:extLst>
          </p:cNvPr>
          <p:cNvCxnSpPr>
            <a:cxnSpLocks/>
          </p:cNvCxnSpPr>
          <p:nvPr/>
        </p:nvCxnSpPr>
        <p:spPr>
          <a:xfrm flipH="1" flipV="1">
            <a:off x="8193974" y="3711039"/>
            <a:ext cx="274617" cy="3785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6A4C7A2-AD00-C27C-A7C5-8DC43CC65B9F}"/>
              </a:ext>
            </a:extLst>
          </p:cNvPr>
          <p:cNvCxnSpPr>
            <a:cxnSpLocks/>
          </p:cNvCxnSpPr>
          <p:nvPr/>
        </p:nvCxnSpPr>
        <p:spPr>
          <a:xfrm flipV="1">
            <a:off x="7741227" y="3696195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079C35-F0E0-16C4-D2BE-2E43CD0BC738}"/>
              </a:ext>
            </a:extLst>
          </p:cNvPr>
          <p:cNvCxnSpPr>
            <a:cxnSpLocks/>
          </p:cNvCxnSpPr>
          <p:nvPr/>
        </p:nvCxnSpPr>
        <p:spPr>
          <a:xfrm flipV="1">
            <a:off x="7221681" y="2902032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970ABED-A684-3DEF-4839-0336CEFA7AF1}"/>
              </a:ext>
            </a:extLst>
          </p:cNvPr>
          <p:cNvCxnSpPr>
            <a:cxnSpLocks/>
          </p:cNvCxnSpPr>
          <p:nvPr/>
        </p:nvCxnSpPr>
        <p:spPr>
          <a:xfrm flipH="1" flipV="1">
            <a:off x="7785759" y="2931721"/>
            <a:ext cx="274617" cy="3785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FF0D34-D42F-8A6D-20DF-2CDFFA1E6614}"/>
              </a:ext>
            </a:extLst>
          </p:cNvPr>
          <p:cNvCxnSpPr>
            <a:cxnSpLocks/>
          </p:cNvCxnSpPr>
          <p:nvPr/>
        </p:nvCxnSpPr>
        <p:spPr>
          <a:xfrm flipH="1" flipV="1">
            <a:off x="7644739" y="2182090"/>
            <a:ext cx="1" cy="44532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650DB5-E375-B271-BF95-7DEE94A84C53}"/>
              </a:ext>
            </a:extLst>
          </p:cNvPr>
          <p:cNvCxnSpPr>
            <a:cxnSpLocks/>
          </p:cNvCxnSpPr>
          <p:nvPr/>
        </p:nvCxnSpPr>
        <p:spPr>
          <a:xfrm flipH="1" flipV="1">
            <a:off x="7333013" y="3659085"/>
            <a:ext cx="1039089" cy="45274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E50B404-7050-39C5-2EAA-FED7821B652F}"/>
              </a:ext>
            </a:extLst>
          </p:cNvPr>
          <p:cNvSpPr txBox="1"/>
          <p:nvPr/>
        </p:nvSpPr>
        <p:spPr>
          <a:xfrm>
            <a:off x="6568540" y="4145231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x</a:t>
            </a:r>
            <a:r>
              <a:rPr lang="en-US" sz="1350" baseline="-25000">
                <a:solidFill>
                  <a:srgbClr val="000000"/>
                </a:solidFill>
                <a:latin typeface="Neue Haas Grotesk Text Pro"/>
              </a:rPr>
              <a:t>1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84C281-849E-4735-31DD-9A3D940617C7}"/>
              </a:ext>
            </a:extLst>
          </p:cNvPr>
          <p:cNvSpPr txBox="1"/>
          <p:nvPr/>
        </p:nvSpPr>
        <p:spPr>
          <a:xfrm>
            <a:off x="7518565" y="4145231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x</a:t>
            </a:r>
            <a:r>
              <a:rPr lang="en-US" sz="1350" baseline="-25000">
                <a:solidFill>
                  <a:srgbClr val="000000"/>
                </a:solidFill>
                <a:latin typeface="Neue Haas Grotesk Text Pro"/>
              </a:rPr>
              <a:t>2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FACC9C-E62C-9C31-3B7A-9A21E1DE88BA}"/>
              </a:ext>
            </a:extLst>
          </p:cNvPr>
          <p:cNvSpPr txBox="1"/>
          <p:nvPr/>
        </p:nvSpPr>
        <p:spPr>
          <a:xfrm>
            <a:off x="8401793" y="4137808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1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A69123-830D-DAB4-5DEE-7D6486A1C2C0}"/>
              </a:ext>
            </a:extLst>
          </p:cNvPr>
          <p:cNvSpPr txBox="1"/>
          <p:nvPr/>
        </p:nvSpPr>
        <p:spPr>
          <a:xfrm>
            <a:off x="6984175" y="1877785"/>
            <a:ext cx="1313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prstClr val="white"/>
                </a:solidFill>
                <a:latin typeface="Neue Haas Grotesk Text Pro"/>
              </a:rPr>
              <a:t>(x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2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+1)(x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2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2124880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4E164-D250-3D44-92E5-37C0BDE5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6886A-7E28-4792-4AC4-2A615B31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520550F-0330-4051-965A-CD8A3ED3305D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B34F6-AF7C-F256-7BA4-3803C74D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8639-37AA-E9F0-2C33-315AFA0F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25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DF594D1-455A-0BB0-A8CC-43F3D3248865}"/>
              </a:ext>
            </a:extLst>
          </p:cNvPr>
          <p:cNvSpPr>
            <a:spLocks noGrp="1"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6EA72D1-CD99-301B-AB68-BA0EED13A5D9}"/>
              </a:ext>
            </a:extLst>
          </p:cNvPr>
          <p:cNvSpPr>
            <a:spLocks noGrp="1"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25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C365BA8-31A9-B26C-C8FB-E7CA1144E4AB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Arithmetic Circuits</a:t>
            </a:r>
            <a:endParaRPr lang="en-US" sz="2700" b="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731BFB-3F9C-16A4-D490-F395F0FC4334}"/>
              </a:ext>
            </a:extLst>
          </p:cNvPr>
          <p:cNvSpPr>
            <a:spLocks noGrp="1"/>
          </p:cNvSpPr>
          <p:nvPr/>
        </p:nvSpPr>
        <p:spPr>
          <a:xfrm>
            <a:off x="407530" y="1153052"/>
            <a:ext cx="5860049" cy="344537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Fix a finite field                                              for some prime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 &gt; 2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Arithmetic circuit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Directed Acyclic Graph(DAG) where internal nodes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+ or 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×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 and inputs are </a:t>
            </a:r>
            <a:r>
              <a:rPr lang="en-US" sz="1350" err="1">
                <a:solidFill>
                  <a:prstClr val="white"/>
                </a:solidFill>
                <a:latin typeface="Neue Haas Grotesk Text Pro"/>
              </a:rPr>
              <a:t>labled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1, 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, …, </a:t>
            </a:r>
            <a:r>
              <a:rPr lang="en-US" sz="1350" err="1">
                <a:solidFill>
                  <a:prstClr val="white"/>
                </a:solidFill>
                <a:latin typeface="Selawik"/>
              </a:rPr>
              <a:t>x</a:t>
            </a:r>
            <a:r>
              <a:rPr lang="en-US" sz="1350" baseline="-25000" err="1">
                <a:solidFill>
                  <a:prstClr val="white"/>
                </a:solidFill>
                <a:latin typeface="Neue Haas Grotesk Text Pro"/>
              </a:rPr>
              <a:t>n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 </a:t>
            </a:r>
          </a:p>
          <a:p>
            <a:pPr marL="342900" lvl="1" indent="-171450" defTabSz="685800">
              <a:spcBef>
                <a:spcPts val="375"/>
              </a:spcBef>
            </a:pPr>
            <a:r>
              <a:rPr lang="en-US" sz="1350">
                <a:solidFill>
                  <a:prstClr val="white"/>
                </a:solidFill>
                <a:latin typeface="Neue Haas Grotesk Text Pro"/>
              </a:rPr>
              <a:t>Defines an n variate polynomial with an evaluation recipe.</a:t>
            </a: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|C| = # gates in C</a:t>
            </a: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Examples:</a:t>
            </a:r>
          </a:p>
          <a:p>
            <a:pPr marL="342900" lvl="1" indent="-171450" defTabSz="685800">
              <a:spcBef>
                <a:spcPts val="375"/>
              </a:spcBef>
              <a:buNone/>
            </a:pP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C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SHA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(h, m): outputs 0 if SHA256(m) = h , and ≠0 otherwise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171450" lvl="1" indent="0" defTabSz="685800">
              <a:spcBef>
                <a:spcPts val="375"/>
              </a:spcBef>
              <a:buNone/>
            </a:pPr>
            <a:r>
              <a:rPr lang="en-US" sz="1350" err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C</a:t>
            </a:r>
            <a:r>
              <a:rPr lang="en-US" sz="1350" baseline="-25000" err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hSHA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(h, m) = (h – SHA256(m)) , |C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SHA</a:t>
            </a:r>
            <a:r>
              <a:rPr lang="en-US" sz="135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| ≈ 20K gates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pic>
        <p:nvPicPr>
          <p:cNvPr id="10" name="Picture 9" descr="A black and white logo&#10;&#10;AI-generated content may be incorrect.">
            <a:extLst>
              <a:ext uri="{FF2B5EF4-FFF2-40B4-BE49-F238E27FC236}">
                <a16:creationId xmlns:a16="http://schemas.microsoft.com/office/drawing/2014/main" id="{D69DB0D7-7F35-EC43-6FE5-1FBD6B93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3" name="Picture 12" descr="Indian Statistical... - Indian Statistical Institute, Kolkata">
            <a:extLst>
              <a:ext uri="{FF2B5EF4-FFF2-40B4-BE49-F238E27FC236}">
                <a16:creationId xmlns:a16="http://schemas.microsoft.com/office/drawing/2014/main" id="{96BCD71F-3BF4-7D01-95EE-1D4361BD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5F9DA8-8317-002D-BCE1-A08DD12C236A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Graphic 1" descr="equation">
            <a:extLst>
              <a:ext uri="{FF2B5EF4-FFF2-40B4-BE49-F238E27FC236}">
                <a16:creationId xmlns:a16="http://schemas.microsoft.com/office/drawing/2014/main" id="{69FF903F-CAAB-2EE6-CC9A-EACD2C87B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12485" y="1249552"/>
            <a:ext cx="2060740" cy="202529"/>
          </a:xfrm>
          <a:prstGeom prst="rect">
            <a:avLst/>
          </a:prstGeom>
        </p:spPr>
      </p:pic>
      <p:pic>
        <p:nvPicPr>
          <p:cNvPr id="3" name="Graphic 2" descr="equation">
            <a:extLst>
              <a:ext uri="{FF2B5EF4-FFF2-40B4-BE49-F238E27FC236}">
                <a16:creationId xmlns:a16="http://schemas.microsoft.com/office/drawing/2014/main" id="{53021C3A-15EB-A4D8-1E1A-71CF7EE847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3124" y="1619822"/>
            <a:ext cx="1059687" cy="167089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86E1392C-F66F-05BB-56BA-1DBF73A0FC90}"/>
              </a:ext>
            </a:extLst>
          </p:cNvPr>
          <p:cNvSpPr/>
          <p:nvPr/>
        </p:nvSpPr>
        <p:spPr>
          <a:xfrm>
            <a:off x="6516584" y="412667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94ED02C-39C7-645D-B9CB-E324DB032879}"/>
              </a:ext>
            </a:extLst>
          </p:cNvPr>
          <p:cNvSpPr/>
          <p:nvPr/>
        </p:nvSpPr>
        <p:spPr>
          <a:xfrm>
            <a:off x="7474032" y="4126674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E2FF676-7EB1-6D3A-1E8E-39D0904D31A2}"/>
              </a:ext>
            </a:extLst>
          </p:cNvPr>
          <p:cNvSpPr/>
          <p:nvPr/>
        </p:nvSpPr>
        <p:spPr>
          <a:xfrm>
            <a:off x="8342415" y="412667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A07FFE-2B46-A7C6-135F-4BD99B87820E}"/>
              </a:ext>
            </a:extLst>
          </p:cNvPr>
          <p:cNvSpPr/>
          <p:nvPr/>
        </p:nvSpPr>
        <p:spPr>
          <a:xfrm>
            <a:off x="7963889" y="3325091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+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B2F966-95E1-F380-6467-090386F1F209}"/>
              </a:ext>
            </a:extLst>
          </p:cNvPr>
          <p:cNvSpPr/>
          <p:nvPr/>
        </p:nvSpPr>
        <p:spPr>
          <a:xfrm>
            <a:off x="7021285" y="3325090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+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12CDF5-0569-5109-9CA6-B927DBECC593}"/>
              </a:ext>
            </a:extLst>
          </p:cNvPr>
          <p:cNvSpPr/>
          <p:nvPr/>
        </p:nvSpPr>
        <p:spPr>
          <a:xfrm>
            <a:off x="7474031" y="2627415"/>
            <a:ext cx="348837" cy="333993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r>
              <a:rPr lang="en-US" sz="1350">
                <a:solidFill>
                  <a:prstClr val="black"/>
                </a:solidFill>
                <a:latin typeface="Neue Haas Grotesk Text Pro"/>
              </a:rPr>
              <a:t>×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B29110F-3359-F116-F081-F052BC61251A}"/>
              </a:ext>
            </a:extLst>
          </p:cNvPr>
          <p:cNvCxnSpPr/>
          <p:nvPr/>
        </p:nvCxnSpPr>
        <p:spPr>
          <a:xfrm flipV="1">
            <a:off x="6806045" y="3688773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E671FAF-3A01-7145-FC22-F09F5A323181}"/>
              </a:ext>
            </a:extLst>
          </p:cNvPr>
          <p:cNvCxnSpPr>
            <a:cxnSpLocks/>
          </p:cNvCxnSpPr>
          <p:nvPr/>
        </p:nvCxnSpPr>
        <p:spPr>
          <a:xfrm flipH="1" flipV="1">
            <a:off x="7243948" y="3673929"/>
            <a:ext cx="348837" cy="423059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029B55-D383-9BC0-4B47-8B923C5E6AA3}"/>
              </a:ext>
            </a:extLst>
          </p:cNvPr>
          <p:cNvCxnSpPr>
            <a:cxnSpLocks/>
          </p:cNvCxnSpPr>
          <p:nvPr/>
        </p:nvCxnSpPr>
        <p:spPr>
          <a:xfrm flipH="1" flipV="1">
            <a:off x="8193974" y="3711039"/>
            <a:ext cx="274617" cy="3785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C1ED52-A152-4111-EC86-678B02DCB76E}"/>
              </a:ext>
            </a:extLst>
          </p:cNvPr>
          <p:cNvCxnSpPr>
            <a:cxnSpLocks/>
          </p:cNvCxnSpPr>
          <p:nvPr/>
        </p:nvCxnSpPr>
        <p:spPr>
          <a:xfrm flipV="1">
            <a:off x="7741227" y="3696195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29F1935-A454-C46C-84B0-52379398A7E6}"/>
              </a:ext>
            </a:extLst>
          </p:cNvPr>
          <p:cNvCxnSpPr>
            <a:cxnSpLocks/>
          </p:cNvCxnSpPr>
          <p:nvPr/>
        </p:nvCxnSpPr>
        <p:spPr>
          <a:xfrm flipV="1">
            <a:off x="7221681" y="2902032"/>
            <a:ext cx="289461" cy="40821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B4C3CB4-635B-05ED-9A4B-A5EFF3C185D5}"/>
              </a:ext>
            </a:extLst>
          </p:cNvPr>
          <p:cNvCxnSpPr>
            <a:cxnSpLocks/>
          </p:cNvCxnSpPr>
          <p:nvPr/>
        </p:nvCxnSpPr>
        <p:spPr>
          <a:xfrm flipH="1" flipV="1">
            <a:off x="7785759" y="2931721"/>
            <a:ext cx="274617" cy="37852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32C4DFE-9481-5B6A-3417-CA66ECDAA8CC}"/>
              </a:ext>
            </a:extLst>
          </p:cNvPr>
          <p:cNvCxnSpPr>
            <a:cxnSpLocks/>
          </p:cNvCxnSpPr>
          <p:nvPr/>
        </p:nvCxnSpPr>
        <p:spPr>
          <a:xfrm flipH="1" flipV="1">
            <a:off x="7644739" y="2182090"/>
            <a:ext cx="1" cy="44532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A760CDD-D4BC-33D4-B08B-3FCCD5C14FF4}"/>
              </a:ext>
            </a:extLst>
          </p:cNvPr>
          <p:cNvCxnSpPr>
            <a:cxnSpLocks/>
          </p:cNvCxnSpPr>
          <p:nvPr/>
        </p:nvCxnSpPr>
        <p:spPr>
          <a:xfrm flipH="1" flipV="1">
            <a:off x="7333013" y="3659085"/>
            <a:ext cx="1039089" cy="45274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C436B20-F1BC-9322-AB31-6DCEC4211AB1}"/>
              </a:ext>
            </a:extLst>
          </p:cNvPr>
          <p:cNvSpPr txBox="1"/>
          <p:nvPr/>
        </p:nvSpPr>
        <p:spPr>
          <a:xfrm>
            <a:off x="6568540" y="4145231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x</a:t>
            </a:r>
            <a:r>
              <a:rPr lang="en-US" sz="1350" baseline="-25000">
                <a:solidFill>
                  <a:srgbClr val="000000"/>
                </a:solidFill>
                <a:latin typeface="Neue Haas Grotesk Text Pro"/>
              </a:rPr>
              <a:t>1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35F260-C7D7-BDD1-E6FB-1813F59F6E43}"/>
              </a:ext>
            </a:extLst>
          </p:cNvPr>
          <p:cNvSpPr txBox="1"/>
          <p:nvPr/>
        </p:nvSpPr>
        <p:spPr>
          <a:xfrm>
            <a:off x="7518565" y="4145231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x</a:t>
            </a:r>
            <a:r>
              <a:rPr lang="en-US" sz="1350" baseline="-25000">
                <a:solidFill>
                  <a:srgbClr val="000000"/>
                </a:solidFill>
                <a:latin typeface="Neue Haas Grotesk Text Pro"/>
              </a:rPr>
              <a:t>2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ED6FA4-EBCE-2457-095A-B1C364CD8F68}"/>
              </a:ext>
            </a:extLst>
          </p:cNvPr>
          <p:cNvSpPr txBox="1"/>
          <p:nvPr/>
        </p:nvSpPr>
        <p:spPr>
          <a:xfrm>
            <a:off x="8401793" y="4137808"/>
            <a:ext cx="348838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srgbClr val="000000"/>
                </a:solidFill>
                <a:latin typeface="Neue Haas Grotesk Text Pro"/>
              </a:rPr>
              <a:t>1</a:t>
            </a:r>
            <a:endParaRPr lang="en-US" sz="1350" baseline="-25000">
              <a:solidFill>
                <a:prstClr val="black"/>
              </a:solidFill>
              <a:latin typeface="Neue Haas Grotesk Text Pro"/>
            </a:endParaRP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FD7297-959A-8C23-F2B2-04A803E6DA81}"/>
              </a:ext>
            </a:extLst>
          </p:cNvPr>
          <p:cNvSpPr txBox="1"/>
          <p:nvPr/>
        </p:nvSpPr>
        <p:spPr>
          <a:xfrm>
            <a:off x="6984175" y="1877785"/>
            <a:ext cx="1313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350">
                <a:solidFill>
                  <a:prstClr val="white"/>
                </a:solidFill>
                <a:latin typeface="Neue Haas Grotesk Text Pro"/>
              </a:rPr>
              <a:t>(x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2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+1)(x</a:t>
            </a:r>
            <a:r>
              <a:rPr lang="en-US" sz="1350" baseline="-25000">
                <a:solidFill>
                  <a:prstClr val="white"/>
                </a:solidFill>
                <a:latin typeface="Neue Haas Grotesk Text Pro"/>
              </a:rPr>
              <a:t>2</a:t>
            </a:r>
            <a:r>
              <a:rPr lang="en-US" sz="1350">
                <a:solidFill>
                  <a:prstClr val="white"/>
                </a:solidFill>
                <a:latin typeface="Neue Haas Grotesk Text Pro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2855531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56F4-6C01-E3AA-A6BD-E1A814F9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D1F08B3C-70ED-459E-9451-26C570B71313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CB5E0-83B4-DC9E-6632-0A5BB595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AF0DA-9A66-944C-88F4-214EBF1D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1DF180C-5CB5-7F68-F4B7-ACB3514A805C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0373EE2-2E24-9E01-609B-902628323717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26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72ED069-DAC9-31E6-29B3-1C956DA0F023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B84E866-AF04-DB73-BA06-A073CE17D18B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26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1A65AF7-917B-3CC3-B127-44A3D4B85411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ZKPs for predicate  𝜙</a:t>
            </a:r>
            <a:endParaRPr lang="en-US" sz="270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872583D-DA0E-FA28-B93D-36EA55D7A9E8}"/>
              </a:ext>
            </a:extLst>
          </p:cNvPr>
          <p:cNvSpPr>
            <a:spLocks noGrp="1"/>
          </p:cNvSpPr>
          <p:nvPr/>
        </p:nvSpPr>
        <p:spPr>
          <a:xfrm>
            <a:off x="459486" y="1286649"/>
            <a:ext cx="7990184" cy="11445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Prover knows 𝜙, 𝑥,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y</a:t>
            </a:r>
            <a:endParaRPr lang="en-US" sz="1500" i="1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Verifier knows 𝜙, 𝑥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Proof 𝜋 shows that 𝜙(𝑥, a) holds </a:t>
            </a:r>
            <a:r>
              <a:rPr lang="en-US" sz="1500">
                <a:solidFill>
                  <a:srgbClr val="FA9A42">
                    <a:lumMod val="40000"/>
                    <a:lumOff val="60000"/>
                  </a:srgbClr>
                </a:solidFill>
                <a:latin typeface="Neue Haas Grotesk Text Pro"/>
                <a:ea typeface="+mn-lt"/>
                <a:cs typeface="+mn-lt"/>
              </a:rPr>
              <a:t>but does not reveal a</a:t>
            </a:r>
            <a:endParaRPr lang="en-US" sz="1500">
              <a:solidFill>
                <a:srgbClr val="FA9A42">
                  <a:lumMod val="40000"/>
                  <a:lumOff val="60000"/>
                </a:srgbClr>
              </a:solidFill>
              <a:latin typeface="Neue Haas Grotesk Text Pro"/>
            </a:endParaRPr>
          </a:p>
          <a:p>
            <a:pPr marL="0" indent="0" defTabSz="685800">
              <a:spcBef>
                <a:spcPts val="750"/>
              </a:spcBef>
              <a:buNone/>
            </a:pPr>
            <a:endParaRPr lang="en-US" sz="1500">
              <a:solidFill>
                <a:prstClr val="white"/>
              </a:solidFill>
              <a:latin typeface="Neue Haas Grotesk Text Pro"/>
              <a:ea typeface="+mn-lt"/>
              <a:cs typeface="+mn-lt"/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0505371A-CA7D-65D0-96A5-B8FBB37E3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8" name="Picture 7" descr="Indian Statistical... - Indian Statistical Institute, Kolkata">
            <a:extLst>
              <a:ext uri="{FF2B5EF4-FFF2-40B4-BE49-F238E27FC236}">
                <a16:creationId xmlns:a16="http://schemas.microsoft.com/office/drawing/2014/main" id="{CA464C17-C006-D3BE-3278-81D80E430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B9C6AB-B4C0-7BB5-0A40-14107DEC1C8F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106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29670-153C-C47E-DD6A-BBA74CC3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F1CBC-1AEC-6832-9AE5-D166A5F3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D1F08B3C-70ED-459E-9451-26C570B71313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A9486-F6BA-42B2-9115-44E438D3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36667-5CB6-DA53-0825-2B57DC6E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27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104181A-AC88-BD7B-5845-05A49B40D542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8F914E3-270E-D1B2-48AF-7458D412546E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27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E0D122F-1420-8559-D935-FC3C3A56BC6C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C25929A-8D8E-AAA5-6B68-A3432C4869AA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27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79A1BFF-C4BD-F35D-F6C5-DF4AFB9FDE84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ZKPs for predicate  𝜙</a:t>
            </a:r>
            <a:endParaRPr lang="en-US" sz="270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52187C9-27BC-BB35-4C48-4706948E55A5}"/>
              </a:ext>
            </a:extLst>
          </p:cNvPr>
          <p:cNvSpPr>
            <a:spLocks noGrp="1"/>
          </p:cNvSpPr>
          <p:nvPr/>
        </p:nvSpPr>
        <p:spPr>
          <a:xfrm>
            <a:off x="459486" y="1286649"/>
            <a:ext cx="7990184" cy="11445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Prover knows 𝜙, 𝑥,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y</a:t>
            </a:r>
            <a:endParaRPr lang="en-US" sz="1500" i="1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Verifier knows 𝜙, 𝑥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Proof 𝜋 shows that 𝜙(𝑥, a) holds </a:t>
            </a:r>
            <a:r>
              <a:rPr lang="en-US" sz="1500">
                <a:solidFill>
                  <a:srgbClr val="FA9A42">
                    <a:lumMod val="40000"/>
                    <a:lumOff val="60000"/>
                  </a:srgbClr>
                </a:solidFill>
                <a:latin typeface="Neue Haas Grotesk Text Pro"/>
                <a:ea typeface="+mn-lt"/>
                <a:cs typeface="+mn-lt"/>
              </a:rPr>
              <a:t>but does not reveal a</a:t>
            </a:r>
            <a:endParaRPr lang="en-US" sz="1500">
              <a:solidFill>
                <a:srgbClr val="FA9A42">
                  <a:lumMod val="40000"/>
                  <a:lumOff val="60000"/>
                </a:srgbClr>
              </a:solidFill>
              <a:latin typeface="Neue Haas Grotesk Text Pro"/>
            </a:endParaRPr>
          </a:p>
          <a:p>
            <a:pPr marL="0" indent="0" defTabSz="685800">
              <a:spcBef>
                <a:spcPts val="750"/>
              </a:spcBef>
              <a:buNone/>
            </a:pPr>
            <a:endParaRPr lang="en-US" sz="1500">
              <a:solidFill>
                <a:prstClr val="white"/>
              </a:solidFill>
              <a:latin typeface="Neue Haas Grotesk Text Pro"/>
              <a:ea typeface="+mn-lt"/>
              <a:cs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C2AD9D-D971-C4A6-EC5D-E6668F605C46}"/>
              </a:ext>
            </a:extLst>
          </p:cNvPr>
          <p:cNvSpPr txBox="1"/>
          <p:nvPr/>
        </p:nvSpPr>
        <p:spPr>
          <a:xfrm>
            <a:off x="2478973" y="2623705"/>
            <a:ext cx="364424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>
                <a:solidFill>
                  <a:prstClr val="white">
                    <a:lumMod val="76000"/>
                  </a:prstClr>
                </a:solidFill>
                <a:latin typeface="Neue Haas Grotesk Text Pro"/>
              </a:rPr>
              <a:t>Key Question: what can 𝜙 be?​</a:t>
            </a: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00B346B5-41AA-1630-5747-61B7E75F4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8" name="Picture 7" descr="Indian Statistical... - Indian Statistical Institute, Kolkata">
            <a:extLst>
              <a:ext uri="{FF2B5EF4-FFF2-40B4-BE49-F238E27FC236}">
                <a16:creationId xmlns:a16="http://schemas.microsoft.com/office/drawing/2014/main" id="{9EB43CF1-473F-4A52-000C-042C312B4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F6D629-84EE-7F1E-BFE6-4E1240A4A7F6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01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08206-11B8-31EF-19DD-042C8720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3D67-FE13-D64F-47FB-F0726920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D1F08B3C-70ED-459E-9451-26C570B71313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90199-BAEE-18AF-8093-60C105AD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09014-0AD6-A0A1-8DC7-EFC34F0A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28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AD8321A-0FDE-D90B-FA52-D074E8D0F28E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F7C6898-90B5-F6B7-9EEF-9BE055CE8AAC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28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83FA1A9-6A0B-FBF6-BA9E-414C1C95C4BE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ABD96FF-C159-73FA-D68A-8119862ABBEC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28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6F6E3BB-158B-17B4-FB0A-FAFFEAD9F603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+mj-lt"/>
                <a:cs typeface="+mj-lt"/>
              </a:rPr>
              <a:t>ZKPs for predicate  𝜙</a:t>
            </a:r>
            <a:endParaRPr lang="en-US" sz="2700">
              <a:solidFill>
                <a:srgbClr val="FA9A42">
                  <a:lumMod val="76000"/>
                </a:srgbClr>
              </a:solidFill>
              <a:latin typeface="Neue Haas Grotesk Text Pro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AD9CA54-D18F-8155-B1B2-A9F583334047}"/>
              </a:ext>
            </a:extLst>
          </p:cNvPr>
          <p:cNvSpPr>
            <a:spLocks noGrp="1"/>
          </p:cNvSpPr>
          <p:nvPr/>
        </p:nvSpPr>
        <p:spPr>
          <a:xfrm>
            <a:off x="459486" y="1286649"/>
            <a:ext cx="7990184" cy="114452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Prover knows 𝜙, 𝑥, </a:t>
            </a:r>
            <a:r>
              <a:rPr lang="en-US" sz="1500" i="1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y</a:t>
            </a:r>
            <a:endParaRPr lang="en-US" sz="1500" i="1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Verifier knows 𝜙, 𝑥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171450" indent="-171450" defTabSz="685800">
              <a:spcBef>
                <a:spcPts val="750"/>
              </a:spcBef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+mn-lt"/>
                <a:cs typeface="+mn-lt"/>
              </a:rPr>
              <a:t>Proof 𝜋 shows that 𝜙(𝑥, a) holds </a:t>
            </a:r>
            <a:r>
              <a:rPr lang="en-US" sz="1500">
                <a:solidFill>
                  <a:srgbClr val="FA9A42">
                    <a:lumMod val="40000"/>
                    <a:lumOff val="60000"/>
                  </a:srgbClr>
                </a:solidFill>
                <a:latin typeface="Neue Haas Grotesk Text Pro"/>
                <a:ea typeface="+mn-lt"/>
                <a:cs typeface="+mn-lt"/>
              </a:rPr>
              <a:t>but does not reveal a</a:t>
            </a:r>
            <a:endParaRPr lang="en-US" sz="1500">
              <a:solidFill>
                <a:srgbClr val="FA9A42">
                  <a:lumMod val="40000"/>
                  <a:lumOff val="60000"/>
                </a:srgbClr>
              </a:solidFill>
              <a:latin typeface="Neue Haas Grotesk Text Pro"/>
            </a:endParaRPr>
          </a:p>
          <a:p>
            <a:pPr marL="0" indent="0" defTabSz="685800">
              <a:spcBef>
                <a:spcPts val="750"/>
              </a:spcBef>
              <a:buNone/>
            </a:pPr>
            <a:endParaRPr lang="en-US" sz="1500">
              <a:solidFill>
                <a:prstClr val="white"/>
              </a:solidFill>
              <a:latin typeface="Neue Haas Grotesk Text Pro"/>
              <a:ea typeface="+mn-lt"/>
              <a:cs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59F990-333C-AC40-A650-B4CBD23FF22D}"/>
              </a:ext>
            </a:extLst>
          </p:cNvPr>
          <p:cNvSpPr txBox="1"/>
          <p:nvPr/>
        </p:nvSpPr>
        <p:spPr>
          <a:xfrm>
            <a:off x="2478973" y="2623705"/>
            <a:ext cx="364424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>
                <a:solidFill>
                  <a:prstClr val="white">
                    <a:lumMod val="76000"/>
                  </a:prstClr>
                </a:solidFill>
                <a:latin typeface="Neue Haas Grotesk Text Pro"/>
              </a:rPr>
              <a:t>Key Question: what can 𝜙 be?​</a:t>
            </a:r>
          </a:p>
          <a:p>
            <a:pPr algn="ctr" defTabSz="685800"/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387C4-823F-CE4F-43E7-ABDB9750E406}"/>
              </a:ext>
            </a:extLst>
          </p:cNvPr>
          <p:cNvSpPr txBox="1"/>
          <p:nvPr/>
        </p:nvSpPr>
        <p:spPr>
          <a:xfrm>
            <a:off x="480475" y="3247159"/>
            <a:ext cx="3321170" cy="7617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/>
            <a:r>
              <a:rPr lang="en-US" sz="1500" u="sng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𝜙 in theory</a:t>
            </a:r>
            <a:r>
              <a:rPr lang="en-US" sz="1500" u="sng">
                <a:solidFill>
                  <a:prstClr val="black"/>
                </a:solidFill>
                <a:latin typeface="Neue Haas Grotesk Text Pro"/>
                <a:ea typeface="Arial"/>
                <a:cs typeface="Arial"/>
              </a:rPr>
              <a:t>​</a:t>
            </a:r>
            <a:endParaRPr lang="en-US" sz="1350" u="sng">
              <a:solidFill>
                <a:prstClr val="black"/>
              </a:solidFill>
              <a:latin typeface="Neue Haas Grotesk Text Pro"/>
            </a:endParaRPr>
          </a:p>
          <a:p>
            <a:pPr marL="171450" indent="-171450" defTabSz="685800">
              <a:buFont typeface="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 a is a factorization of</a:t>
            </a:r>
            <a:r>
              <a:rPr lang="en-US" sz="1500">
                <a:solidFill>
                  <a:prstClr val="black"/>
                </a:solidFill>
                <a:latin typeface="Neue Haas Grotesk Text Pro"/>
                <a:ea typeface="Arial"/>
                <a:cs typeface="Arial"/>
              </a:rPr>
              <a:t>​ 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integer 𝑥</a:t>
            </a:r>
            <a:r>
              <a:rPr lang="en-US" sz="1500">
                <a:solidFill>
                  <a:prstClr val="black"/>
                </a:solidFill>
                <a:latin typeface="Neue Haas Grotesk Text Pro"/>
                <a:ea typeface="Arial"/>
                <a:cs typeface="Arial"/>
              </a:rPr>
              <a:t>​</a:t>
            </a:r>
          </a:p>
          <a:p>
            <a:pPr defTabSz="685800"/>
            <a:endParaRPr lang="en-US" sz="1500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D03290-E588-0D2C-3D18-5E27505B28C3}"/>
              </a:ext>
            </a:extLst>
          </p:cNvPr>
          <p:cNvSpPr txBox="1"/>
          <p:nvPr/>
        </p:nvSpPr>
        <p:spPr>
          <a:xfrm>
            <a:off x="4762594" y="3250660"/>
            <a:ext cx="4242347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685800"/>
            <a:r>
              <a:rPr lang="en-US" sz="1500" u="sng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𝜙 in practice</a:t>
            </a:r>
          </a:p>
          <a:p>
            <a:pPr marL="171450" indent="-171450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𝜙 is an “arithmetic circuit”</a:t>
            </a:r>
            <a:r>
              <a:rPr lang="en-US" sz="1500">
                <a:solidFill>
                  <a:srgbClr val="000000"/>
                </a:solidFill>
                <a:latin typeface="Neue Haas Grotesk Text Pro"/>
                <a:ea typeface="Arial"/>
                <a:cs typeface="Arial"/>
              </a:rPr>
              <a:t> 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Arial"/>
                <a:cs typeface="Arial"/>
              </a:rPr>
              <a:t>over inputs 𝑥, a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73B1BF6-F29F-4C18-BF3B-59B21587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8" name="Picture 7" descr="Indian Statistical... - Indian Statistical Institute, Kolkata">
            <a:extLst>
              <a:ext uri="{FF2B5EF4-FFF2-40B4-BE49-F238E27FC236}">
                <a16:creationId xmlns:a16="http://schemas.microsoft.com/office/drawing/2014/main" id="{774E100B-7FA3-8B34-68ED-48213E73B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3D0278-99AE-956B-CA35-80EA2E874396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C266-011D-84E2-9C44-D2BA25A40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8280C223-C49D-4962-82B7-6AABE3E5F95E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B862337-19A1-B1CA-5802-E908FE5A6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4839752"/>
            <a:ext cx="2104054" cy="273844"/>
          </a:xfrm>
        </p:spPr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17252BE-E10F-3D15-90B8-0E096E3D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4839752"/>
            <a:ext cx="321905" cy="273844"/>
          </a:xfrm>
        </p:spPr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29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07011E1-563E-E18B-81F8-5C09CD737F95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62002FD-9594-C865-9D44-81AD60E31F34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29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6DCA7E-50EC-08F9-0C8A-CA1F813321C5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BFAD297A-69D2-628C-0A2D-927F421CEEDC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29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362338C-ADC3-4E8D-EBCA-54967D4EF36C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R1CS: a common </a:t>
            </a:r>
            <a:r>
              <a:rPr lang="en-US" sz="2700" b="0" err="1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Arithm</a:t>
            </a: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etic Circuit format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277467-AEEF-5775-2BEB-C10678F3F582}"/>
              </a:ext>
            </a:extLst>
          </p:cNvPr>
          <p:cNvSpPr txBox="1"/>
          <p:nvPr/>
        </p:nvSpPr>
        <p:spPr>
          <a:xfrm>
            <a:off x="456248" y="920968"/>
            <a:ext cx="5247409" cy="1223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500" b="1">
                <a:solidFill>
                  <a:prstClr val="white"/>
                </a:solidFill>
                <a:latin typeface="Neue Haas Grotesk Text Pro"/>
              </a:rPr>
              <a:t>Definition: </a:t>
            </a:r>
            <a:endParaRPr lang="en-US" sz="1350" b="1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𝑥: field elements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ℓ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 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y: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n-ℓ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 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𝜙: 𝑛 equations of form  𝛼×𝛽 = 𝛾  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where 𝛼, 𝛽, 𝛾 are affine combinations of variables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E2FD6D0E-1339-EF36-261F-7795D4B7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1" name="Picture 10" descr="Indian Statistical... - Indian Statistical Institute, Kolkata">
            <a:extLst>
              <a:ext uri="{FF2B5EF4-FFF2-40B4-BE49-F238E27FC236}">
                <a16:creationId xmlns:a16="http://schemas.microsoft.com/office/drawing/2014/main" id="{7BE55AEF-6B4A-5609-E669-960B387C9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6B6AD4-95A4-F955-A856-365C7040B616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488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7C10D-3B3C-6C10-9F54-925BA136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AEE65-2A13-1BFB-46F8-AD847F6F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8280C223-C49D-4962-82B7-6AABE3E5F95E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44699C-E96F-1832-E72A-728423A4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4839752"/>
            <a:ext cx="2104054" cy="273844"/>
          </a:xfrm>
        </p:spPr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0A09B70-052A-D0EB-44CF-2157AFC5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4839752"/>
            <a:ext cx="321905" cy="273844"/>
          </a:xfrm>
        </p:spPr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30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192CC4B-E6EE-FFB1-28A3-CABD27E32823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64D210D-2BD8-F7DB-1786-E43B55CD4E51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30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6B63AA0-F329-9B68-824C-31893E71D047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165CFD8F-0241-1C32-129E-9F5BD20B945D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30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31397CB-9EA6-BB48-E75A-5069BFE34C38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R1CS: a common </a:t>
            </a:r>
            <a:r>
              <a:rPr lang="en-US" sz="2700" b="0" err="1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Arithm</a:t>
            </a: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etic Circuit format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BD4CBC-09E5-3161-626A-0021B881B3AD}"/>
              </a:ext>
            </a:extLst>
          </p:cNvPr>
          <p:cNvSpPr txBox="1"/>
          <p:nvPr/>
        </p:nvSpPr>
        <p:spPr>
          <a:xfrm>
            <a:off x="456248" y="920968"/>
            <a:ext cx="5247409" cy="1223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500" b="1">
                <a:solidFill>
                  <a:prstClr val="white"/>
                </a:solidFill>
                <a:latin typeface="Neue Haas Grotesk Text Pro"/>
              </a:rPr>
              <a:t>Definition: </a:t>
            </a:r>
            <a:endParaRPr lang="en-US" sz="1350" b="1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𝑥: field elements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ℓ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 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y: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n-ℓ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𝜙: 𝑛 equations of form  𝛼×𝛽 = 𝛾  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where 𝛼, 𝛽, 𝛾 are affine combinations of variables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090070-E91B-97AB-8ACB-031D6C17DF91}"/>
              </a:ext>
            </a:extLst>
          </p:cNvPr>
          <p:cNvSpPr txBox="1"/>
          <p:nvPr/>
        </p:nvSpPr>
        <p:spPr>
          <a:xfrm>
            <a:off x="6209479" y="1006672"/>
            <a:ext cx="2601509" cy="1454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500" b="1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Examples: 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× (y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 - 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− 1) = 𝑥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 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= 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 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= 𝑥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 </a:t>
            </a:r>
          </a:p>
          <a:p>
            <a:pPr marL="600075" lvl="1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×y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=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4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</a:p>
          <a:p>
            <a:pPr marL="600075" lvl="1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4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 ×y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=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endParaRPr lang="en-US" sz="1500" baseline="-25000">
              <a:solidFill>
                <a:prstClr val="white"/>
              </a:solidFill>
              <a:latin typeface="Neue Haas Grotesk Text Pro"/>
            </a:endParaRP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DE3246AE-2492-A8B4-7140-EAF2A9C22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1" name="Picture 10" descr="Indian Statistical... - Indian Statistical Institute, Kolkata">
            <a:extLst>
              <a:ext uri="{FF2B5EF4-FFF2-40B4-BE49-F238E27FC236}">
                <a16:creationId xmlns:a16="http://schemas.microsoft.com/office/drawing/2014/main" id="{9C66BE1E-424F-E49F-AD70-6953217B8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E3DD1E-A44D-5B1C-2D94-4E289069E0D3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129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577B8-70D0-712C-0A5A-B0A05EF2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174C0-BEE2-76D2-20F7-6848D98E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8280C223-C49D-4962-82B7-6AABE3E5F95E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C399074-560A-2B41-E577-F41E4FE7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4839752"/>
            <a:ext cx="2104054" cy="273844"/>
          </a:xfrm>
        </p:spPr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8D8C183-1A71-EA97-F802-70A95522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4839752"/>
            <a:ext cx="321905" cy="273844"/>
          </a:xfrm>
        </p:spPr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31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0B19677-79DF-158D-F132-1D6EE83945E1}"/>
              </a:ext>
            </a:extLst>
          </p:cNvPr>
          <p:cNvSpPr txBox="1">
            <a:spLocks/>
          </p:cNvSpPr>
          <p:nvPr/>
        </p:nvSpPr>
        <p:spPr>
          <a:xfrm>
            <a:off x="6771691" y="49540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CBC38C0-55CC-E40C-5AA1-EF5255F68DB1}"/>
              </a:ext>
            </a:extLst>
          </p:cNvPr>
          <p:cNvSpPr txBox="1">
            <a:spLocks/>
          </p:cNvSpPr>
          <p:nvPr/>
        </p:nvSpPr>
        <p:spPr>
          <a:xfrm>
            <a:off x="8838422" y="49540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31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F334D4C-2EA4-94EF-A447-BF947AD1BC0E}"/>
              </a:ext>
            </a:extLst>
          </p:cNvPr>
          <p:cNvSpPr>
            <a:spLocks noGrp="1"/>
          </p:cNvSpPr>
          <p:nvPr/>
        </p:nvSpPr>
        <p:spPr>
          <a:xfrm>
            <a:off x="6885991" y="5068352"/>
            <a:ext cx="21040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675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82DEE72-9E1F-4CF8-7A04-C7FBCF00B0DA}"/>
              </a:ext>
            </a:extLst>
          </p:cNvPr>
          <p:cNvSpPr>
            <a:spLocks noGrp="1"/>
          </p:cNvSpPr>
          <p:nvPr/>
        </p:nvSpPr>
        <p:spPr>
          <a:xfrm>
            <a:off x="8952722" y="5068352"/>
            <a:ext cx="321905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fld id="{CC057153-B650-4DEB-B370-79DDCFDCE934}" type="slidenum">
              <a:rPr lang="en-US" sz="675" dirty="0">
                <a:solidFill>
                  <a:prstClr val="black"/>
                </a:solidFill>
                <a:latin typeface="Neue Haas Grotesk Text Pro"/>
              </a:rPr>
              <a:pPr defTabSz="685800"/>
              <a:t>31</a:t>
            </a:fld>
            <a:endParaRPr lang="en-US" sz="675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FBF8D98-8285-294B-6BE6-CEB61E9F5C48}"/>
              </a:ext>
            </a:extLst>
          </p:cNvPr>
          <p:cNvSpPr>
            <a:spLocks noGrp="1"/>
          </p:cNvSpPr>
          <p:nvPr/>
        </p:nvSpPr>
        <p:spPr>
          <a:xfrm>
            <a:off x="459486" y="411481"/>
            <a:ext cx="7990184" cy="509015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R1CS: a common </a:t>
            </a:r>
            <a:r>
              <a:rPr lang="en-US" sz="2700" b="0" err="1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Arithm</a:t>
            </a: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</a:rPr>
              <a:t>etic Circuit format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88F6E8-E696-6D5E-C770-0BA5F637C547}"/>
              </a:ext>
            </a:extLst>
          </p:cNvPr>
          <p:cNvSpPr txBox="1"/>
          <p:nvPr/>
        </p:nvSpPr>
        <p:spPr>
          <a:xfrm>
            <a:off x="456248" y="920968"/>
            <a:ext cx="5247409" cy="1223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500" b="1">
                <a:solidFill>
                  <a:prstClr val="white"/>
                </a:solidFill>
                <a:latin typeface="Neue Haas Grotesk Text Pro"/>
              </a:rPr>
              <a:t>Definition: </a:t>
            </a:r>
            <a:endParaRPr lang="en-US" sz="1350" b="1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𝑥: field elements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ℓ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 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y: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</a:rPr>
              <a:t>, … ,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</a:rPr>
              <a:t>n-ℓ</a:t>
            </a:r>
            <a:endParaRPr lang="en-US" sz="150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𝜙: 𝑛 equations of form  𝛼×𝛽 = 𝛾  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</a:rPr>
              <a:t>where 𝛼, 𝛽, 𝛾 are affine combinations of variables</a:t>
            </a:r>
            <a:endParaRPr lang="en-US"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F31ACD-132D-0191-A710-62C3F89BED1E}"/>
              </a:ext>
            </a:extLst>
          </p:cNvPr>
          <p:cNvSpPr txBox="1"/>
          <p:nvPr/>
        </p:nvSpPr>
        <p:spPr>
          <a:xfrm>
            <a:off x="6209479" y="1006672"/>
            <a:ext cx="2601509" cy="1454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en-US" sz="1500" b="1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Examples: 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× (y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 - 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− 1) = 𝑥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 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= 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 </a:t>
            </a:r>
          </a:p>
          <a:p>
            <a:pPr marL="257175" indent="-257175" defTabSz="685800"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×y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= 𝑥</a:t>
            </a:r>
            <a:r>
              <a:rPr lang="en-US" sz="1500" baseline="-250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srgbClr val="FFFFFF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 </a:t>
            </a:r>
          </a:p>
          <a:p>
            <a:pPr marL="600075" lvl="1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×y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2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= 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4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</a:t>
            </a:r>
          </a:p>
          <a:p>
            <a:pPr marL="600075" lvl="1" indent="-257175" defTabSz="685800">
              <a:buFont typeface="Arial"/>
              <a:buChar char="•"/>
            </a:pP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4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 ×y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3</a:t>
            </a:r>
            <a:r>
              <a:rPr lang="en-US" sz="15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 = 𝑥</a:t>
            </a:r>
            <a:r>
              <a:rPr lang="en-US" sz="1500" baseline="-25000">
                <a:solidFill>
                  <a:prstClr val="white"/>
                </a:solidFill>
                <a:latin typeface="Neue Haas Grotesk Text Pro"/>
                <a:ea typeface="Neue Haas Grotesk Text Pro"/>
                <a:cs typeface="Neue Haas Grotesk Text Pro"/>
              </a:rPr>
              <a:t>1</a:t>
            </a:r>
            <a:endParaRPr lang="en-US" sz="1500" baseline="-25000">
              <a:solidFill>
                <a:prstClr val="white"/>
              </a:solidFill>
              <a:latin typeface="Neue Haas Grotesk Text Pro"/>
            </a:endParaRPr>
          </a:p>
        </p:txBody>
      </p:sp>
      <p:pic>
        <p:nvPicPr>
          <p:cNvPr id="42" name="Graphic 41" descr="equation">
            <a:extLst>
              <a:ext uri="{FF2B5EF4-FFF2-40B4-BE49-F238E27FC236}">
                <a16:creationId xmlns:a16="http://schemas.microsoft.com/office/drawing/2014/main" id="{428DA651-75AA-0BA2-0737-66708C9CE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35" y="3663414"/>
            <a:ext cx="3063307" cy="1285874"/>
          </a:xfrm>
          <a:prstGeom prst="rect">
            <a:avLst/>
          </a:prstGeom>
        </p:spPr>
      </p:pic>
      <p:pic>
        <p:nvPicPr>
          <p:cNvPr id="2" name="Graphic 1" descr="equation">
            <a:extLst>
              <a:ext uri="{FF2B5EF4-FFF2-40B4-BE49-F238E27FC236}">
                <a16:creationId xmlns:a16="http://schemas.microsoft.com/office/drawing/2014/main" id="{D00085A6-3446-447E-DBA4-872D1EAD4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480" y="2265509"/>
            <a:ext cx="4118880" cy="558053"/>
          </a:xfrm>
          <a:prstGeom prst="rect">
            <a:avLst/>
          </a:prstGeom>
        </p:spPr>
      </p:pic>
      <p:pic>
        <p:nvPicPr>
          <p:cNvPr id="3" name="Graphic 2" descr="equation">
            <a:extLst>
              <a:ext uri="{FF2B5EF4-FFF2-40B4-BE49-F238E27FC236}">
                <a16:creationId xmlns:a16="http://schemas.microsoft.com/office/drawing/2014/main" id="{1008B709-8B43-DE7F-A6F8-CBCB3A25FB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283" y="2955481"/>
            <a:ext cx="4118880" cy="552431"/>
          </a:xfrm>
          <a:prstGeom prst="rect">
            <a:avLst/>
          </a:prstGeom>
        </p:spPr>
      </p:pic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DB1F555A-94CB-5FEA-1E1F-9D4BB99916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11" name="Picture 10" descr="Indian Statistical... - Indian Statistical Institute, Kolkata">
            <a:extLst>
              <a:ext uri="{FF2B5EF4-FFF2-40B4-BE49-F238E27FC236}">
                <a16:creationId xmlns:a16="http://schemas.microsoft.com/office/drawing/2014/main" id="{92134608-9586-D00F-4FD4-00C33846E7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186B6F-3CF7-0159-6B13-B7680FEA2A2A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941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3D18A-AAE4-2D58-4809-9287FDBBE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63A7097-4633-4B76-99AD-B2BA299629AF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A16D9-F86E-4CD4-9466-81F21D99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32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ADB811-8CB2-FB15-7A39-F916ADC46E43}"/>
              </a:ext>
            </a:extLst>
          </p:cNvPr>
          <p:cNvSpPr/>
          <p:nvPr/>
        </p:nvSpPr>
        <p:spPr>
          <a:xfrm>
            <a:off x="445770" y="80255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1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0B790B0-67AE-DEB9-C426-B205AA7C9FC3}"/>
              </a:ext>
            </a:extLst>
          </p:cNvPr>
          <p:cNvSpPr txBox="1"/>
          <p:nvPr/>
        </p:nvSpPr>
        <p:spPr>
          <a:xfrm>
            <a:off x="870966" y="788671"/>
            <a:ext cx="4491990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Design your arithmetic circuit and write
your circuit using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 err="1">
                <a:solidFill>
                  <a:srgbClr val="FA9A42">
                    <a:lumMod val="76000"/>
                  </a:srgbClr>
                </a:solidFill>
                <a:latin typeface="Calibri"/>
              </a:rPr>
              <a:t>circom</a:t>
            </a:r>
            <a:endParaRPr lang="en-US" sz="1350" b="1">
              <a:solidFill>
                <a:srgbClr val="FA9A42">
                  <a:lumMod val="76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2EE964E-2AF9-BF84-A6B0-B59ECD5726C6}"/>
              </a:ext>
            </a:extLst>
          </p:cNvPr>
          <p:cNvSpPr txBox="1"/>
          <p:nvPr/>
        </p:nvSpPr>
        <p:spPr>
          <a:xfrm>
            <a:off x="871674" y="1272704"/>
            <a:ext cx="440299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200">
                <a:solidFill>
                  <a:prstClr val="white">
                    <a:lumMod val="76000"/>
                  </a:prstClr>
                </a:solidFill>
                <a:latin typeface="Calibri"/>
              </a:rPr>
              <a:t>Use your own code or Use safe templates from C</a:t>
            </a:r>
            <a:r>
              <a:rPr lang="en-US" sz="1200" err="1">
                <a:solidFill>
                  <a:prstClr val="white">
                    <a:lumMod val="76000"/>
                  </a:prstClr>
                </a:solidFill>
                <a:latin typeface="Calibri"/>
              </a:rPr>
              <a:t>ircomlib</a:t>
            </a:r>
            <a:endParaRPr lang="en-US" sz="120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72E4462-4850-3A2D-2B77-15E1B3C637A8}"/>
              </a:ext>
            </a:extLst>
          </p:cNvPr>
          <p:cNvSpPr/>
          <p:nvPr/>
        </p:nvSpPr>
        <p:spPr>
          <a:xfrm>
            <a:off x="980694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CC0288C-07BB-0AEA-92BC-6497FE891564}"/>
              </a:ext>
            </a:extLst>
          </p:cNvPr>
          <p:cNvSpPr/>
          <p:nvPr/>
        </p:nvSpPr>
        <p:spPr>
          <a:xfrm>
            <a:off x="1004697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F60D9A9-2E24-D072-5E33-C9BF7C532381}"/>
              </a:ext>
            </a:extLst>
          </p:cNvPr>
          <p:cNvSpPr/>
          <p:nvPr/>
        </p:nvSpPr>
        <p:spPr>
          <a:xfrm>
            <a:off x="1028700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3681FCD-A65F-347E-6790-AAEA433D4DDC}"/>
              </a:ext>
            </a:extLst>
          </p:cNvPr>
          <p:cNvSpPr/>
          <p:nvPr/>
        </p:nvSpPr>
        <p:spPr>
          <a:xfrm>
            <a:off x="1052703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95EC5B7F-DAC1-D301-9225-8BB15098AE16}"/>
              </a:ext>
            </a:extLst>
          </p:cNvPr>
          <p:cNvSpPr>
            <a:spLocks noGrp="1"/>
          </p:cNvSpPr>
          <p:nvPr/>
        </p:nvSpPr>
        <p:spPr>
          <a:xfrm>
            <a:off x="445879" y="261801"/>
            <a:ext cx="5554505" cy="522623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Calibri"/>
                <a:cs typeface="Calibri"/>
              </a:rPr>
              <a:t>CIRCOM &amp; SNARKJS</a:t>
            </a: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6C82118F-D68E-EDE5-56DC-E27074837D55}"/>
              </a:ext>
            </a:extLst>
          </p:cNvPr>
          <p:cNvSpPr/>
          <p:nvPr/>
        </p:nvSpPr>
        <p:spPr>
          <a:xfrm>
            <a:off x="5268140" y="940906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High-level circuit  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endParaRPr lang="en-US" sz="1050" b="1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7" name="Picture 36" descr="A black and white logo&#10;&#10;AI-generated content may be incorrect.">
            <a:extLst>
              <a:ext uri="{FF2B5EF4-FFF2-40B4-BE49-F238E27FC236}">
                <a16:creationId xmlns:a16="http://schemas.microsoft.com/office/drawing/2014/main" id="{4DAF6E5A-B52D-6C02-89BD-B5BAA504B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41" name="Picture 40" descr="Indian Statistical... - Indian Statistical Institute, Kolkata">
            <a:extLst>
              <a:ext uri="{FF2B5EF4-FFF2-40B4-BE49-F238E27FC236}">
                <a16:creationId xmlns:a16="http://schemas.microsoft.com/office/drawing/2014/main" id="{A8305052-0C5F-307A-A28E-9D1AA0B3C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2F70D7-7EA2-253F-A7A0-EC5FE1FCC89E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187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48578-B9EA-F762-C204-292D32F0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1D650-0221-F23A-0B51-33DF8189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63A7097-4633-4B76-99AD-B2BA299629AF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21C-64C0-8C0B-9747-B1F93C00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33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38EFEC-3008-C73B-67F0-278CD9A6A2B8}"/>
              </a:ext>
            </a:extLst>
          </p:cNvPr>
          <p:cNvSpPr/>
          <p:nvPr/>
        </p:nvSpPr>
        <p:spPr>
          <a:xfrm>
            <a:off x="445770" y="80255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1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FBC5F24-376A-C088-D59F-EF290B195CD7}"/>
              </a:ext>
            </a:extLst>
          </p:cNvPr>
          <p:cNvSpPr txBox="1"/>
          <p:nvPr/>
        </p:nvSpPr>
        <p:spPr>
          <a:xfrm>
            <a:off x="870966" y="788671"/>
            <a:ext cx="4491990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Design your arithmetic circuit and write
your circuit using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 err="1">
                <a:solidFill>
                  <a:srgbClr val="FA9A42">
                    <a:lumMod val="76000"/>
                  </a:srgbClr>
                </a:solidFill>
                <a:latin typeface="Calibri"/>
              </a:rPr>
              <a:t>circom</a:t>
            </a:r>
            <a:endParaRPr lang="en-US" sz="1350" b="1">
              <a:solidFill>
                <a:srgbClr val="FA9A42">
                  <a:lumMod val="76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2E70132-7339-AF5E-7336-618079BDE749}"/>
              </a:ext>
            </a:extLst>
          </p:cNvPr>
          <p:cNvSpPr txBox="1"/>
          <p:nvPr/>
        </p:nvSpPr>
        <p:spPr>
          <a:xfrm>
            <a:off x="871674" y="1272704"/>
            <a:ext cx="440299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200">
                <a:solidFill>
                  <a:prstClr val="white">
                    <a:lumMod val="76000"/>
                  </a:prstClr>
                </a:solidFill>
                <a:latin typeface="Calibri"/>
              </a:rPr>
              <a:t>Use your own code or Use safe templates from C</a:t>
            </a:r>
            <a:r>
              <a:rPr lang="en-US" sz="1200" err="1">
                <a:solidFill>
                  <a:prstClr val="white">
                    <a:lumMod val="76000"/>
                  </a:prstClr>
                </a:solidFill>
                <a:latin typeface="Calibri"/>
              </a:rPr>
              <a:t>ircomlib</a:t>
            </a:r>
            <a:endParaRPr lang="en-US" sz="120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1EE854-D190-84C3-2C75-AB4304F10002}"/>
              </a:ext>
            </a:extLst>
          </p:cNvPr>
          <p:cNvSpPr/>
          <p:nvPr/>
        </p:nvSpPr>
        <p:spPr>
          <a:xfrm>
            <a:off x="445770" y="157734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2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40E5C350-975C-F40B-685A-B0BA35435D2D}"/>
              </a:ext>
            </a:extLst>
          </p:cNvPr>
          <p:cNvSpPr txBox="1"/>
          <p:nvPr/>
        </p:nvSpPr>
        <p:spPr>
          <a:xfrm>
            <a:off x="870967" y="1577068"/>
            <a:ext cx="4512401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Compile the circuit to get a low-level representation (R1CS)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E750779D-ED75-BBDD-FE08-C69790A1D8A9}"/>
              </a:ext>
            </a:extLst>
          </p:cNvPr>
          <p:cNvSpPr/>
          <p:nvPr/>
        </p:nvSpPr>
        <p:spPr>
          <a:xfrm>
            <a:off x="870966" y="1832174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C9791714-FE65-09F4-D0B7-9F7A31F2721C}"/>
              </a:ext>
            </a:extLst>
          </p:cNvPr>
          <p:cNvSpPr txBox="1"/>
          <p:nvPr/>
        </p:nvSpPr>
        <p:spPr>
          <a:xfrm>
            <a:off x="868234" y="1865900"/>
            <a:ext cx="33554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0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circuit.circom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--r1cs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wasm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sym</a:t>
            </a:r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42" name="Rounded Rectangle 36">
            <a:extLst>
              <a:ext uri="{FF2B5EF4-FFF2-40B4-BE49-F238E27FC236}">
                <a16:creationId xmlns:a16="http://schemas.microsoft.com/office/drawing/2014/main" id="{8B35D45B-E19A-75CD-FDF8-19901B2DED53}"/>
              </a:ext>
            </a:extLst>
          </p:cNvPr>
          <p:cNvSpPr/>
          <p:nvPr/>
        </p:nvSpPr>
        <p:spPr>
          <a:xfrm>
            <a:off x="6635659" y="961318"/>
            <a:ext cx="969917" cy="5557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 b="1">
                <a:solidFill>
                  <a:srgbClr val="161C2D"/>
                </a:solidFill>
                <a:latin typeface="Calibri"/>
              </a:rPr>
              <a:t>Circuit
Compiler
(</a:t>
            </a:r>
            <a:r>
              <a:rPr sz="1050" b="1" err="1">
                <a:solidFill>
                  <a:srgbClr val="161C2D"/>
                </a:solidFill>
                <a:latin typeface="Calibri"/>
              </a:rPr>
              <a:t>circom</a:t>
            </a:r>
            <a:r>
              <a:rPr sz="1050" b="1">
                <a:solidFill>
                  <a:srgbClr val="161C2D"/>
                </a:solidFill>
                <a:latin typeface="Calibri"/>
              </a:rPr>
              <a:t>)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FD7A3D-837B-80E4-4FBE-4C3BD2977D4A}"/>
              </a:ext>
            </a:extLst>
          </p:cNvPr>
          <p:cNvSpPr/>
          <p:nvPr/>
        </p:nvSpPr>
        <p:spPr>
          <a:xfrm>
            <a:off x="980694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707DC4-BD64-903D-F014-D787FC691C1C}"/>
              </a:ext>
            </a:extLst>
          </p:cNvPr>
          <p:cNvSpPr/>
          <p:nvPr/>
        </p:nvSpPr>
        <p:spPr>
          <a:xfrm>
            <a:off x="1004697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BE540C-F3F1-789F-4BBE-D135DD8D82DA}"/>
              </a:ext>
            </a:extLst>
          </p:cNvPr>
          <p:cNvSpPr/>
          <p:nvPr/>
        </p:nvSpPr>
        <p:spPr>
          <a:xfrm>
            <a:off x="1028700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9629222-262D-4181-7B84-EC3ED1BA4E4A}"/>
              </a:ext>
            </a:extLst>
          </p:cNvPr>
          <p:cNvSpPr/>
          <p:nvPr/>
        </p:nvSpPr>
        <p:spPr>
          <a:xfrm>
            <a:off x="1052703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7DBE51FF-29CA-78EC-F0B5-543F2B5C77A3}"/>
              </a:ext>
            </a:extLst>
          </p:cNvPr>
          <p:cNvSpPr>
            <a:spLocks noGrp="1"/>
          </p:cNvSpPr>
          <p:nvPr/>
        </p:nvSpPr>
        <p:spPr>
          <a:xfrm>
            <a:off x="445879" y="261801"/>
            <a:ext cx="5554505" cy="522623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Calibri"/>
                <a:cs typeface="Calibri"/>
              </a:rPr>
              <a:t>CIRCOM &amp; SNARKJS</a:t>
            </a: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0A1FDD05-8DA1-BB4B-9B54-10BDB9244033}"/>
              </a:ext>
            </a:extLst>
          </p:cNvPr>
          <p:cNvSpPr/>
          <p:nvPr/>
        </p:nvSpPr>
        <p:spPr>
          <a:xfrm>
            <a:off x="5268140" y="940906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High-level circuit  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endParaRPr lang="en-US" sz="1050" b="1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CE1D55-233F-ED63-0B49-3F5FF1D653E9}"/>
              </a:ext>
            </a:extLst>
          </p:cNvPr>
          <p:cNvCxnSpPr/>
          <p:nvPr/>
        </p:nvCxnSpPr>
        <p:spPr>
          <a:xfrm>
            <a:off x="6241348" y="1253712"/>
            <a:ext cx="379145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7" name="Picture 36" descr="A black and white logo&#10;&#10;AI-generated content may be incorrect.">
            <a:extLst>
              <a:ext uri="{FF2B5EF4-FFF2-40B4-BE49-F238E27FC236}">
                <a16:creationId xmlns:a16="http://schemas.microsoft.com/office/drawing/2014/main" id="{C7D61094-FEA5-5EE8-A8A3-20723C93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41" name="Picture 40" descr="Indian Statistical... - Indian Statistical Institute, Kolkata">
            <a:extLst>
              <a:ext uri="{FF2B5EF4-FFF2-40B4-BE49-F238E27FC236}">
                <a16:creationId xmlns:a16="http://schemas.microsoft.com/office/drawing/2014/main" id="{442C4CDB-1630-99C4-8CC6-902F98BA2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F4759C-A92B-9FB2-79B0-22D49B2613AC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08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0A7A2-6D4D-B17F-E19E-60F7AAFD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BCB2-9E22-0543-3A9C-5DF50C9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63A7097-4633-4B76-99AD-B2BA299629AF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788AD-7D1F-6827-E8B4-A719BD63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34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21ACC1-899B-26C1-0B58-3D3D015B866F}"/>
              </a:ext>
            </a:extLst>
          </p:cNvPr>
          <p:cNvSpPr/>
          <p:nvPr/>
        </p:nvSpPr>
        <p:spPr>
          <a:xfrm>
            <a:off x="445770" y="80255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1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C78E91B-51BB-C8BB-88FF-34ED6586959F}"/>
              </a:ext>
            </a:extLst>
          </p:cNvPr>
          <p:cNvSpPr txBox="1"/>
          <p:nvPr/>
        </p:nvSpPr>
        <p:spPr>
          <a:xfrm>
            <a:off x="870966" y="788671"/>
            <a:ext cx="4491990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Design your arithmetic circuit and write
your circuit using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 err="1">
                <a:solidFill>
                  <a:srgbClr val="FA9A42">
                    <a:lumMod val="76000"/>
                  </a:srgbClr>
                </a:solidFill>
                <a:latin typeface="Calibri"/>
              </a:rPr>
              <a:t>circom</a:t>
            </a:r>
            <a:endParaRPr lang="en-US" sz="1350" b="1">
              <a:solidFill>
                <a:srgbClr val="FA9A42">
                  <a:lumMod val="76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CFF631F-A0D9-F5C9-051D-F6B7E5EFFAAA}"/>
              </a:ext>
            </a:extLst>
          </p:cNvPr>
          <p:cNvSpPr txBox="1"/>
          <p:nvPr/>
        </p:nvSpPr>
        <p:spPr>
          <a:xfrm>
            <a:off x="871674" y="1272704"/>
            <a:ext cx="440299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200">
                <a:solidFill>
                  <a:prstClr val="white">
                    <a:lumMod val="76000"/>
                  </a:prstClr>
                </a:solidFill>
                <a:latin typeface="Calibri"/>
              </a:rPr>
              <a:t>Use your own code or Use safe templates from C</a:t>
            </a:r>
            <a:r>
              <a:rPr lang="en-US" sz="1200" err="1">
                <a:solidFill>
                  <a:prstClr val="white">
                    <a:lumMod val="76000"/>
                  </a:prstClr>
                </a:solidFill>
                <a:latin typeface="Calibri"/>
              </a:rPr>
              <a:t>ircomlib</a:t>
            </a:r>
            <a:endParaRPr lang="en-US" sz="120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48299F-99EC-C26C-89EA-AD14583DD5F5}"/>
              </a:ext>
            </a:extLst>
          </p:cNvPr>
          <p:cNvSpPr/>
          <p:nvPr/>
        </p:nvSpPr>
        <p:spPr>
          <a:xfrm>
            <a:off x="445770" y="157734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2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506784B0-D55D-6A81-401F-BB18B6A1869F}"/>
              </a:ext>
            </a:extLst>
          </p:cNvPr>
          <p:cNvSpPr txBox="1"/>
          <p:nvPr/>
        </p:nvSpPr>
        <p:spPr>
          <a:xfrm>
            <a:off x="870967" y="1577068"/>
            <a:ext cx="4512401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Compile the circuit to get a low-level representation (R1CS)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4D539DF9-AED2-C9AA-B2C5-64FFE1E6E30B}"/>
              </a:ext>
            </a:extLst>
          </p:cNvPr>
          <p:cNvSpPr/>
          <p:nvPr/>
        </p:nvSpPr>
        <p:spPr>
          <a:xfrm>
            <a:off x="870966" y="1832174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7F940F5D-79A5-8F61-8567-7693E6F87B18}"/>
              </a:ext>
            </a:extLst>
          </p:cNvPr>
          <p:cNvSpPr txBox="1"/>
          <p:nvPr/>
        </p:nvSpPr>
        <p:spPr>
          <a:xfrm>
            <a:off x="868234" y="1865900"/>
            <a:ext cx="33554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0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circuit.circom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--r1cs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wasm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sym</a:t>
            </a:r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ABBAA8-CF82-9C90-7314-A7619588C466}"/>
              </a:ext>
            </a:extLst>
          </p:cNvPr>
          <p:cNvSpPr/>
          <p:nvPr/>
        </p:nvSpPr>
        <p:spPr>
          <a:xfrm>
            <a:off x="445770" y="2237015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3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3509E832-70EF-C881-311C-730CF685EDE9}"/>
              </a:ext>
            </a:extLst>
          </p:cNvPr>
          <p:cNvSpPr txBox="1"/>
          <p:nvPr/>
        </p:nvSpPr>
        <p:spPr>
          <a:xfrm>
            <a:off x="870966" y="2236741"/>
            <a:ext cx="2787707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Use </a:t>
            </a:r>
            <a:r>
              <a:rPr lang="en-US" sz="1350" b="1" err="1">
                <a:solidFill>
                  <a:srgbClr val="F28C35"/>
                </a:solidFill>
                <a:latin typeface="Calibri"/>
              </a:rPr>
              <a:t>snarkjs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>
                <a:solidFill>
                  <a:prstClr val="white"/>
                </a:solidFill>
                <a:latin typeface="Calibri"/>
              </a:rPr>
              <a:t>to compute your witness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7E69A5F1-88DD-6597-FB6B-AA49664C1350}"/>
              </a:ext>
            </a:extLst>
          </p:cNvPr>
          <p:cNvSpPr/>
          <p:nvPr/>
        </p:nvSpPr>
        <p:spPr>
          <a:xfrm>
            <a:off x="863544" y="2520300"/>
            <a:ext cx="4496592" cy="280615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9EC74BF2-3015-DB9C-A4E1-F2B93074C4D6}"/>
              </a:ext>
            </a:extLst>
          </p:cNvPr>
          <p:cNvSpPr txBox="1"/>
          <p:nvPr/>
        </p:nvSpPr>
        <p:spPr>
          <a:xfrm>
            <a:off x="853390" y="2570726"/>
            <a:ext cx="3682739" cy="184666"/>
          </a:xfrm>
          <a:prstGeom prst="rect">
            <a:avLst/>
          </a:prstGeom>
          <a:noFill/>
        </p:spPr>
        <p:txBody>
          <a:bodyPr wrap="non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node generate_witness.js multiplier2.wasm input.json witness.wtns</a:t>
            </a:r>
            <a:endParaRPr lang="en-US" sz="75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2" name="Rounded Rectangle 36">
            <a:extLst>
              <a:ext uri="{FF2B5EF4-FFF2-40B4-BE49-F238E27FC236}">
                <a16:creationId xmlns:a16="http://schemas.microsoft.com/office/drawing/2014/main" id="{E64CE2D4-D1A1-4A29-EDE3-E00EEAB0CCB5}"/>
              </a:ext>
            </a:extLst>
          </p:cNvPr>
          <p:cNvSpPr/>
          <p:nvPr/>
        </p:nvSpPr>
        <p:spPr>
          <a:xfrm>
            <a:off x="6635659" y="961318"/>
            <a:ext cx="969917" cy="5557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 b="1">
                <a:solidFill>
                  <a:srgbClr val="161C2D"/>
                </a:solidFill>
                <a:latin typeface="Calibri"/>
              </a:rPr>
              <a:t>Circuit
Compiler
(</a:t>
            </a:r>
            <a:r>
              <a:rPr sz="1050" b="1" err="1">
                <a:solidFill>
                  <a:srgbClr val="161C2D"/>
                </a:solidFill>
                <a:latin typeface="Calibri"/>
              </a:rPr>
              <a:t>circom</a:t>
            </a:r>
            <a:r>
              <a:rPr sz="1050" b="1">
                <a:solidFill>
                  <a:srgbClr val="161C2D"/>
                </a:solidFill>
                <a:latin typeface="Calibri"/>
              </a:rPr>
              <a:t>)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45F4F1F-AF93-4AAD-55D4-C21AFAD0CFDD}"/>
              </a:ext>
            </a:extLst>
          </p:cNvPr>
          <p:cNvSpPr/>
          <p:nvPr/>
        </p:nvSpPr>
        <p:spPr>
          <a:xfrm>
            <a:off x="980694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D76002-5626-83D1-AE82-5232CAF5135D}"/>
              </a:ext>
            </a:extLst>
          </p:cNvPr>
          <p:cNvSpPr/>
          <p:nvPr/>
        </p:nvSpPr>
        <p:spPr>
          <a:xfrm>
            <a:off x="1004697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FA78DBD-8E1D-C9DA-4A9D-FE1F15CCD04F}"/>
              </a:ext>
            </a:extLst>
          </p:cNvPr>
          <p:cNvSpPr/>
          <p:nvPr/>
        </p:nvSpPr>
        <p:spPr>
          <a:xfrm>
            <a:off x="1028700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85A9194-5291-A3D3-E562-3830BD821A00}"/>
              </a:ext>
            </a:extLst>
          </p:cNvPr>
          <p:cNvSpPr/>
          <p:nvPr/>
        </p:nvSpPr>
        <p:spPr>
          <a:xfrm>
            <a:off x="1052703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5CCD7A7D-F8B6-C4AD-BF5F-2633BBDE1106}"/>
              </a:ext>
            </a:extLst>
          </p:cNvPr>
          <p:cNvSpPr>
            <a:spLocks noGrp="1"/>
          </p:cNvSpPr>
          <p:nvPr/>
        </p:nvSpPr>
        <p:spPr>
          <a:xfrm>
            <a:off x="445879" y="261801"/>
            <a:ext cx="5554505" cy="522623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Calibri"/>
                <a:cs typeface="Calibri"/>
              </a:rPr>
              <a:t>CIRCOM &amp; SNARKJS</a:t>
            </a: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9D5898BC-64C1-2C24-F16D-1CA7DFF6737E}"/>
              </a:ext>
            </a:extLst>
          </p:cNvPr>
          <p:cNvSpPr/>
          <p:nvPr/>
        </p:nvSpPr>
        <p:spPr>
          <a:xfrm>
            <a:off x="5268140" y="940906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High-level circuit  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endParaRPr lang="en-US" sz="1050" b="1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ounded Rectangle 36">
            <a:extLst>
              <a:ext uri="{FF2B5EF4-FFF2-40B4-BE49-F238E27FC236}">
                <a16:creationId xmlns:a16="http://schemas.microsoft.com/office/drawing/2014/main" id="{ECCD54AC-2D7D-7259-011F-812937B4BBA7}"/>
              </a:ext>
            </a:extLst>
          </p:cNvPr>
          <p:cNvSpPr/>
          <p:nvPr/>
        </p:nvSpPr>
        <p:spPr>
          <a:xfrm>
            <a:off x="8057604" y="913691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Low-level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circuit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59A42B-0ED1-95AF-DF74-D25FF019A5AC}"/>
              </a:ext>
            </a:extLst>
          </p:cNvPr>
          <p:cNvCxnSpPr/>
          <p:nvPr/>
        </p:nvCxnSpPr>
        <p:spPr>
          <a:xfrm>
            <a:off x="6241348" y="1253712"/>
            <a:ext cx="379145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78F7D5-ACF9-B67E-D03B-A5E634CEC3CB}"/>
              </a:ext>
            </a:extLst>
          </p:cNvPr>
          <p:cNvCxnSpPr>
            <a:cxnSpLocks/>
          </p:cNvCxnSpPr>
          <p:nvPr/>
        </p:nvCxnSpPr>
        <p:spPr>
          <a:xfrm>
            <a:off x="7615669" y="1253712"/>
            <a:ext cx="406358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7" name="Picture 36" descr="A black and white logo&#10;&#10;AI-generated content may be incorrect.">
            <a:extLst>
              <a:ext uri="{FF2B5EF4-FFF2-40B4-BE49-F238E27FC236}">
                <a16:creationId xmlns:a16="http://schemas.microsoft.com/office/drawing/2014/main" id="{1AD996CB-9CFF-29E7-C69E-91AB7378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41" name="Picture 40" descr="Indian Statistical... - Indian Statistical Institute, Kolkata">
            <a:extLst>
              <a:ext uri="{FF2B5EF4-FFF2-40B4-BE49-F238E27FC236}">
                <a16:creationId xmlns:a16="http://schemas.microsoft.com/office/drawing/2014/main" id="{E28E366F-AB6E-ACE4-DEAB-370461062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49FE40B-77C2-7D0D-CED2-3E6DEBF4ADCA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218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E15D8-B8A6-A755-D36B-151C0693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F9DB5-A835-1FD6-145F-562CE5C0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63A7097-4633-4B76-99AD-B2BA299629AF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305259-A3D1-3A40-BE05-4DE79410FE66}"/>
              </a:ext>
            </a:extLst>
          </p:cNvPr>
          <p:cNvSpPr/>
          <p:nvPr/>
        </p:nvSpPr>
        <p:spPr>
          <a:xfrm>
            <a:off x="445770" y="80255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1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483975D3-C859-8469-8876-E28D5C4D31FB}"/>
              </a:ext>
            </a:extLst>
          </p:cNvPr>
          <p:cNvSpPr txBox="1"/>
          <p:nvPr/>
        </p:nvSpPr>
        <p:spPr>
          <a:xfrm>
            <a:off x="870966" y="788671"/>
            <a:ext cx="4491990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Design your arithmetic circuit and write
your circuit using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 err="1">
                <a:solidFill>
                  <a:srgbClr val="FA9A42">
                    <a:lumMod val="76000"/>
                  </a:srgbClr>
                </a:solidFill>
                <a:latin typeface="Calibri"/>
              </a:rPr>
              <a:t>circom</a:t>
            </a:r>
            <a:endParaRPr lang="en-US" sz="1350" b="1">
              <a:solidFill>
                <a:srgbClr val="FA9A42">
                  <a:lumMod val="76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E4CD639-074D-A141-5694-9390C890A2BC}"/>
              </a:ext>
            </a:extLst>
          </p:cNvPr>
          <p:cNvSpPr txBox="1"/>
          <p:nvPr/>
        </p:nvSpPr>
        <p:spPr>
          <a:xfrm>
            <a:off x="871674" y="1272704"/>
            <a:ext cx="440299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200">
                <a:solidFill>
                  <a:prstClr val="white">
                    <a:lumMod val="76000"/>
                  </a:prstClr>
                </a:solidFill>
                <a:latin typeface="Calibri"/>
              </a:rPr>
              <a:t>Use your own code or Use safe templates from C</a:t>
            </a:r>
            <a:r>
              <a:rPr lang="en-US" sz="1200" err="1">
                <a:solidFill>
                  <a:prstClr val="white">
                    <a:lumMod val="76000"/>
                  </a:prstClr>
                </a:solidFill>
                <a:latin typeface="Calibri"/>
              </a:rPr>
              <a:t>ircomlib</a:t>
            </a:r>
            <a:endParaRPr lang="en-US" sz="120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F7C549-9756-415C-885F-F0B9591BB715}"/>
              </a:ext>
            </a:extLst>
          </p:cNvPr>
          <p:cNvSpPr/>
          <p:nvPr/>
        </p:nvSpPr>
        <p:spPr>
          <a:xfrm>
            <a:off x="445770" y="157734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2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C090A87-6002-83C2-1187-28378BF38598}"/>
              </a:ext>
            </a:extLst>
          </p:cNvPr>
          <p:cNvSpPr txBox="1"/>
          <p:nvPr/>
        </p:nvSpPr>
        <p:spPr>
          <a:xfrm>
            <a:off x="870967" y="1577068"/>
            <a:ext cx="4512401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Compile the circuit to get a low-level representation (R1CS)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D75429A4-2858-77D3-CCF1-EA2E8E7A2AC1}"/>
              </a:ext>
            </a:extLst>
          </p:cNvPr>
          <p:cNvSpPr/>
          <p:nvPr/>
        </p:nvSpPr>
        <p:spPr>
          <a:xfrm>
            <a:off x="870966" y="1832174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B9E2800-C719-432B-04AF-55EF882B57F5}"/>
              </a:ext>
            </a:extLst>
          </p:cNvPr>
          <p:cNvSpPr txBox="1"/>
          <p:nvPr/>
        </p:nvSpPr>
        <p:spPr>
          <a:xfrm>
            <a:off x="868234" y="1865900"/>
            <a:ext cx="33554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0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circuit.circom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--r1cs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wasm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sym</a:t>
            </a:r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F4DE62-3F20-A98B-2700-10CA6273C033}"/>
              </a:ext>
            </a:extLst>
          </p:cNvPr>
          <p:cNvSpPr/>
          <p:nvPr/>
        </p:nvSpPr>
        <p:spPr>
          <a:xfrm>
            <a:off x="445770" y="2237015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3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8245F120-DB91-B21F-76C3-24E0C4CC8BE2}"/>
              </a:ext>
            </a:extLst>
          </p:cNvPr>
          <p:cNvSpPr txBox="1"/>
          <p:nvPr/>
        </p:nvSpPr>
        <p:spPr>
          <a:xfrm>
            <a:off x="870966" y="2236741"/>
            <a:ext cx="2787707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Use </a:t>
            </a:r>
            <a:r>
              <a:rPr lang="en-US" sz="1350" b="1" err="1">
                <a:solidFill>
                  <a:srgbClr val="F28C35"/>
                </a:solidFill>
                <a:latin typeface="Calibri"/>
              </a:rPr>
              <a:t>snarkjs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>
                <a:solidFill>
                  <a:prstClr val="white"/>
                </a:solidFill>
                <a:latin typeface="Calibri"/>
              </a:rPr>
              <a:t>to compute your witness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446F4631-1746-1823-4044-E1027781A150}"/>
              </a:ext>
            </a:extLst>
          </p:cNvPr>
          <p:cNvSpPr/>
          <p:nvPr/>
        </p:nvSpPr>
        <p:spPr>
          <a:xfrm>
            <a:off x="863544" y="2520300"/>
            <a:ext cx="4496592" cy="280615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9F7A63DA-A276-65A1-0353-200650F21ACE}"/>
              </a:ext>
            </a:extLst>
          </p:cNvPr>
          <p:cNvSpPr txBox="1"/>
          <p:nvPr/>
        </p:nvSpPr>
        <p:spPr>
          <a:xfrm>
            <a:off x="853390" y="2570726"/>
            <a:ext cx="3682739" cy="184666"/>
          </a:xfrm>
          <a:prstGeom prst="rect">
            <a:avLst/>
          </a:prstGeom>
          <a:noFill/>
        </p:spPr>
        <p:txBody>
          <a:bodyPr wrap="non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node generate_witness.js multiplier2.wasm input.json witness.wtns</a:t>
            </a:r>
            <a:endParaRPr lang="en-US" sz="75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D3697C-BBF0-966F-FF0F-85591EDE70F7}"/>
              </a:ext>
            </a:extLst>
          </p:cNvPr>
          <p:cNvSpPr/>
          <p:nvPr/>
        </p:nvSpPr>
        <p:spPr>
          <a:xfrm>
            <a:off x="445770" y="3102429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4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258F832-9A68-5996-8B52-69DE1BA6DBD0}"/>
              </a:ext>
            </a:extLst>
          </p:cNvPr>
          <p:cNvSpPr txBox="1"/>
          <p:nvPr/>
        </p:nvSpPr>
        <p:spPr>
          <a:xfrm>
            <a:off x="870966" y="3122567"/>
            <a:ext cx="4491990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Generate a trusted setup and get your verification key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FD5E6A76-333C-B22B-392D-6707D0BCDA35}"/>
              </a:ext>
            </a:extLst>
          </p:cNvPr>
          <p:cNvSpPr/>
          <p:nvPr/>
        </p:nvSpPr>
        <p:spPr>
          <a:xfrm>
            <a:off x="863544" y="3377674"/>
            <a:ext cx="4526280" cy="488432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EE92FBF0-0084-2E85-D64F-6D2FF7DB6765}"/>
              </a:ext>
            </a:extLst>
          </p:cNvPr>
          <p:cNvSpPr txBox="1"/>
          <p:nvPr/>
        </p:nvSpPr>
        <p:spPr>
          <a:xfrm>
            <a:off x="860813" y="3374289"/>
            <a:ext cx="4505914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s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narkjs groth16 setup multiplier2.r1cs pot12_final.ptau multiplier2_0000.zkey</a:t>
            </a:r>
            <a:endParaRPr lang="en-US" sz="750">
              <a:solidFill>
                <a:srgbClr val="232D41"/>
              </a:solidFill>
              <a:latin typeface="Consolas"/>
            </a:endParaRP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snarkjs zkey contribute multiplier2_0000.zkey multiplier2_final.zkey </a:t>
            </a: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  --name="1st Contributor" -v</a:t>
            </a:r>
            <a:endParaRPr lang="en-US" sz="1350">
              <a:solidFill>
                <a:prstClr val="black"/>
              </a:solidFill>
              <a:latin typeface="Neue Haas Grotesk Text Pro"/>
            </a:endParaRP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$ snarkjs zkey export verificationkey multiplier2_final.zkey verification_key.json</a:t>
            </a:r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42" name="Rounded Rectangle 36">
            <a:extLst>
              <a:ext uri="{FF2B5EF4-FFF2-40B4-BE49-F238E27FC236}">
                <a16:creationId xmlns:a16="http://schemas.microsoft.com/office/drawing/2014/main" id="{AFF69CFA-0B58-C07F-63BA-A989AE0018E5}"/>
              </a:ext>
            </a:extLst>
          </p:cNvPr>
          <p:cNvSpPr/>
          <p:nvPr/>
        </p:nvSpPr>
        <p:spPr>
          <a:xfrm>
            <a:off x="6635659" y="961318"/>
            <a:ext cx="969917" cy="5557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 b="1">
                <a:solidFill>
                  <a:srgbClr val="161C2D"/>
                </a:solidFill>
                <a:latin typeface="Calibri"/>
              </a:rPr>
              <a:t>Circuit
Compiler
(</a:t>
            </a:r>
            <a:r>
              <a:rPr sz="1050" b="1" err="1">
                <a:solidFill>
                  <a:srgbClr val="161C2D"/>
                </a:solidFill>
                <a:latin typeface="Calibri"/>
              </a:rPr>
              <a:t>circom</a:t>
            </a:r>
            <a:r>
              <a:rPr sz="1050" b="1">
                <a:solidFill>
                  <a:srgbClr val="161C2D"/>
                </a:solidFill>
                <a:latin typeface="Calibri"/>
              </a:rPr>
              <a:t>)</a:t>
            </a:r>
          </a:p>
        </p:txBody>
      </p: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3F2A5E78-A2D8-7FD9-0740-448B0D4E3881}"/>
              </a:ext>
            </a:extLst>
          </p:cNvPr>
          <p:cNvSpPr/>
          <p:nvPr/>
        </p:nvSpPr>
        <p:spPr>
          <a:xfrm>
            <a:off x="6832962" y="1988929"/>
            <a:ext cx="1337310" cy="617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 b="1">
                <a:solidFill>
                  <a:srgbClr val="161C2D"/>
                </a:solidFill>
                <a:latin typeface="Calibri"/>
              </a:rPr>
              <a:t>Crypto
Compiler
(snarkjs)</a:t>
            </a:r>
          </a:p>
        </p:txBody>
      </p:sp>
      <p:sp>
        <p:nvSpPr>
          <p:cNvPr id="44" name="TextBox 38">
            <a:extLst>
              <a:ext uri="{FF2B5EF4-FFF2-40B4-BE49-F238E27FC236}">
                <a16:creationId xmlns:a16="http://schemas.microsoft.com/office/drawing/2014/main" id="{FE4DFEDC-D42F-9175-99BC-227FFC3806A1}"/>
              </a:ext>
            </a:extLst>
          </p:cNvPr>
          <p:cNvSpPr txBox="1"/>
          <p:nvPr/>
        </p:nvSpPr>
        <p:spPr>
          <a:xfrm>
            <a:off x="6832962" y="2660468"/>
            <a:ext cx="1337310" cy="20774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900">
                <a:solidFill>
                  <a:prstClr val="white">
                    <a:lumMod val="85000"/>
                  </a:prstClr>
                </a:solidFill>
                <a:latin typeface="Calibri"/>
              </a:rPr>
              <a:t>(Trusted Setup)</a:t>
            </a:r>
            <a:endParaRPr lang="en-US" sz="900">
              <a:solidFill>
                <a:prstClr val="white">
                  <a:lumMod val="85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Box 41">
            <a:extLst>
              <a:ext uri="{FF2B5EF4-FFF2-40B4-BE49-F238E27FC236}">
                <a16:creationId xmlns:a16="http://schemas.microsoft.com/office/drawing/2014/main" id="{066968DA-E896-795C-2875-1A9C1AEAF3FE}"/>
              </a:ext>
            </a:extLst>
          </p:cNvPr>
          <p:cNvSpPr txBox="1"/>
          <p:nvPr/>
        </p:nvSpPr>
        <p:spPr>
          <a:xfrm>
            <a:off x="6113145" y="3049905"/>
            <a:ext cx="1165860" cy="3924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>
                <a:solidFill>
                  <a:prstClr val="white">
                    <a:lumMod val="76000"/>
                  </a:prstClr>
                </a:solidFill>
                <a:latin typeface="Calibri"/>
              </a:rPr>
              <a:t>Proving
key</a:t>
            </a: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87F12E07-8B82-40C2-4376-36EBBDB01E50}"/>
              </a:ext>
            </a:extLst>
          </p:cNvPr>
          <p:cNvSpPr txBox="1"/>
          <p:nvPr/>
        </p:nvSpPr>
        <p:spPr>
          <a:xfrm>
            <a:off x="7940583" y="3179173"/>
            <a:ext cx="866504" cy="3924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white">
                    <a:lumMod val="76000"/>
                  </a:prstClr>
                </a:solidFill>
                <a:latin typeface="Calibri"/>
              </a:rPr>
              <a:t>Validation
key</a:t>
            </a:r>
            <a:endParaRPr lang="en-US" sz="105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DDDD799-278F-D928-B8D3-852F799EA919}"/>
              </a:ext>
            </a:extLst>
          </p:cNvPr>
          <p:cNvSpPr/>
          <p:nvPr/>
        </p:nvSpPr>
        <p:spPr>
          <a:xfrm>
            <a:off x="980694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53F491F-5DAE-EF69-E303-5A36E8EB000F}"/>
              </a:ext>
            </a:extLst>
          </p:cNvPr>
          <p:cNvSpPr/>
          <p:nvPr/>
        </p:nvSpPr>
        <p:spPr>
          <a:xfrm>
            <a:off x="1004697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7FAD7F9-AE8A-A42F-1471-56DFE47D208E}"/>
              </a:ext>
            </a:extLst>
          </p:cNvPr>
          <p:cNvSpPr/>
          <p:nvPr/>
        </p:nvSpPr>
        <p:spPr>
          <a:xfrm>
            <a:off x="1028700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613ECF-07D8-1D5A-21AF-A92D51B126D8}"/>
              </a:ext>
            </a:extLst>
          </p:cNvPr>
          <p:cNvSpPr/>
          <p:nvPr/>
        </p:nvSpPr>
        <p:spPr>
          <a:xfrm>
            <a:off x="1052703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C73EB080-B329-AC06-4316-1075A96A32B2}"/>
              </a:ext>
            </a:extLst>
          </p:cNvPr>
          <p:cNvSpPr>
            <a:spLocks noGrp="1"/>
          </p:cNvSpPr>
          <p:nvPr/>
        </p:nvSpPr>
        <p:spPr>
          <a:xfrm>
            <a:off x="445879" y="261801"/>
            <a:ext cx="5554505" cy="522623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Calibri"/>
                <a:cs typeface="Calibri"/>
              </a:rPr>
              <a:t>CIRCOM &amp; SNARKJS</a:t>
            </a: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6A2BA053-0398-6765-2973-62E5FEC9F048}"/>
              </a:ext>
            </a:extLst>
          </p:cNvPr>
          <p:cNvSpPr/>
          <p:nvPr/>
        </p:nvSpPr>
        <p:spPr>
          <a:xfrm>
            <a:off x="5268140" y="940906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High-level circuit  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endParaRPr lang="en-US" sz="1050" b="1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ounded Rectangle 36">
            <a:extLst>
              <a:ext uri="{FF2B5EF4-FFF2-40B4-BE49-F238E27FC236}">
                <a16:creationId xmlns:a16="http://schemas.microsoft.com/office/drawing/2014/main" id="{A2945F17-443D-5ACB-7B47-DD6102412977}"/>
              </a:ext>
            </a:extLst>
          </p:cNvPr>
          <p:cNvSpPr/>
          <p:nvPr/>
        </p:nvSpPr>
        <p:spPr>
          <a:xfrm>
            <a:off x="8057604" y="913691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Low-level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circuit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3EE80D-CDAF-046D-C45D-5B1C433EBBCC}"/>
              </a:ext>
            </a:extLst>
          </p:cNvPr>
          <p:cNvCxnSpPr/>
          <p:nvPr/>
        </p:nvCxnSpPr>
        <p:spPr>
          <a:xfrm>
            <a:off x="6241348" y="1253712"/>
            <a:ext cx="379145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C7E92A-1D81-50C6-2102-100B4FEEA3A9}"/>
              </a:ext>
            </a:extLst>
          </p:cNvPr>
          <p:cNvCxnSpPr>
            <a:cxnSpLocks/>
          </p:cNvCxnSpPr>
          <p:nvPr/>
        </p:nvCxnSpPr>
        <p:spPr>
          <a:xfrm>
            <a:off x="7615669" y="1253712"/>
            <a:ext cx="406358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B541D8-9628-7045-6FA9-097114FD2F66}"/>
              </a:ext>
            </a:extLst>
          </p:cNvPr>
          <p:cNvCxnSpPr>
            <a:cxnSpLocks/>
          </p:cNvCxnSpPr>
          <p:nvPr/>
        </p:nvCxnSpPr>
        <p:spPr>
          <a:xfrm>
            <a:off x="7738134" y="2879765"/>
            <a:ext cx="576446" cy="105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97392B-CE9F-728C-3F44-BFB0B757C6AF}"/>
              </a:ext>
            </a:extLst>
          </p:cNvPr>
          <p:cNvCxnSpPr>
            <a:cxnSpLocks/>
          </p:cNvCxnSpPr>
          <p:nvPr/>
        </p:nvCxnSpPr>
        <p:spPr>
          <a:xfrm flipH="1">
            <a:off x="6715740" y="2879766"/>
            <a:ext cx="580161" cy="1082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1A562D-FDFA-FC3D-B790-0EC0CAA65B09}"/>
              </a:ext>
            </a:extLst>
          </p:cNvPr>
          <p:cNvCxnSpPr>
            <a:cxnSpLocks/>
          </p:cNvCxnSpPr>
          <p:nvPr/>
        </p:nvCxnSpPr>
        <p:spPr>
          <a:xfrm flipH="1">
            <a:off x="7504956" y="1546265"/>
            <a:ext cx="518927" cy="415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7" name="Picture 36" descr="A black and white logo&#10;&#10;AI-generated content may be incorrect.">
            <a:extLst>
              <a:ext uri="{FF2B5EF4-FFF2-40B4-BE49-F238E27FC236}">
                <a16:creationId xmlns:a16="http://schemas.microsoft.com/office/drawing/2014/main" id="{3B55D43D-88FE-A1B6-23DF-3080D091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41" name="Picture 40" descr="Indian Statistical... - Indian Statistical Institute, Kolkata">
            <a:extLst>
              <a:ext uri="{FF2B5EF4-FFF2-40B4-BE49-F238E27FC236}">
                <a16:creationId xmlns:a16="http://schemas.microsoft.com/office/drawing/2014/main" id="{94CB431A-A13E-E8DD-9D34-1C62C25D1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F2D085-9C97-640A-982F-93A6B505CAF4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6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F74B-77DE-03A0-8D69-2F096E6D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F791-145C-DD7E-6DE3-33DCDAED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F63A7097-4633-4B76-99AD-B2BA299629AF}" type="datetime1">
              <a:rPr lang="en-US">
                <a:solidFill>
                  <a:prstClr val="black"/>
                </a:solidFill>
                <a:latin typeface="Neue Haas Grotesk Text Pro"/>
              </a:rPr>
              <a:pPr defTabSz="685800"/>
              <a:t>2/27/2026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167CD-6066-0C84-1957-BA4817C9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r>
              <a:rPr lang="en-US">
                <a:solidFill>
                  <a:prstClr val="black"/>
                </a:solidFill>
                <a:latin typeface="Neue Haas Grotesk Text Pro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8C60-FCD8-2A12-1837-E45B7837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CC057153-B650-4DEB-B370-79DDCFDCE934}" type="slidenum">
              <a:rPr lang="en-US" dirty="0">
                <a:solidFill>
                  <a:prstClr val="black"/>
                </a:solidFill>
                <a:latin typeface="Neue Haas Grotesk Text Pro"/>
              </a:rPr>
              <a:pPr defTabSz="685800"/>
              <a:t>36</a:t>
            </a:fld>
            <a:endParaRPr lang="en-US">
              <a:solidFill>
                <a:prstClr val="black"/>
              </a:solidFill>
              <a:latin typeface="Neue Haas Grotesk Text Pro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26546-AA1D-E6F3-3063-5A83B2CB1AD6}"/>
              </a:ext>
            </a:extLst>
          </p:cNvPr>
          <p:cNvSpPr/>
          <p:nvPr/>
        </p:nvSpPr>
        <p:spPr>
          <a:xfrm>
            <a:off x="445770" y="80255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1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655B663-2448-C5BF-858F-24359381918A}"/>
              </a:ext>
            </a:extLst>
          </p:cNvPr>
          <p:cNvSpPr txBox="1"/>
          <p:nvPr/>
        </p:nvSpPr>
        <p:spPr>
          <a:xfrm>
            <a:off x="870966" y="788671"/>
            <a:ext cx="4491990" cy="48474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Design your arithmetic circuit and write
your circuit using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 err="1">
                <a:solidFill>
                  <a:srgbClr val="FA9A42">
                    <a:lumMod val="76000"/>
                  </a:srgbClr>
                </a:solidFill>
                <a:latin typeface="Calibri"/>
              </a:rPr>
              <a:t>circom</a:t>
            </a:r>
            <a:endParaRPr lang="en-US" sz="1350" b="1">
              <a:solidFill>
                <a:srgbClr val="FA9A42">
                  <a:lumMod val="76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FD7ECDE-E14A-8283-57B8-BEC941F78B92}"/>
              </a:ext>
            </a:extLst>
          </p:cNvPr>
          <p:cNvSpPr txBox="1"/>
          <p:nvPr/>
        </p:nvSpPr>
        <p:spPr>
          <a:xfrm>
            <a:off x="871674" y="1272704"/>
            <a:ext cx="440299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200">
                <a:solidFill>
                  <a:prstClr val="white">
                    <a:lumMod val="76000"/>
                  </a:prstClr>
                </a:solidFill>
                <a:latin typeface="Calibri"/>
              </a:rPr>
              <a:t>Use your own code or Use safe templates from C</a:t>
            </a:r>
            <a:r>
              <a:rPr lang="en-US" sz="1200" err="1">
                <a:solidFill>
                  <a:prstClr val="white">
                    <a:lumMod val="76000"/>
                  </a:prstClr>
                </a:solidFill>
                <a:latin typeface="Calibri"/>
              </a:rPr>
              <a:t>ircomlib</a:t>
            </a:r>
            <a:endParaRPr lang="en-US" sz="120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FE39186-E665-FAA3-A219-46DEAD6947B2}"/>
              </a:ext>
            </a:extLst>
          </p:cNvPr>
          <p:cNvSpPr/>
          <p:nvPr/>
        </p:nvSpPr>
        <p:spPr>
          <a:xfrm>
            <a:off x="445770" y="1577340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2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9D19AF10-69D4-BB02-7F49-D6F238FFF8C6}"/>
              </a:ext>
            </a:extLst>
          </p:cNvPr>
          <p:cNvSpPr txBox="1"/>
          <p:nvPr/>
        </p:nvSpPr>
        <p:spPr>
          <a:xfrm>
            <a:off x="870967" y="1577068"/>
            <a:ext cx="4512401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Compile the circuit to get a low-level representation (R1CS)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868695B5-627E-E626-50D1-C106215F762E}"/>
              </a:ext>
            </a:extLst>
          </p:cNvPr>
          <p:cNvSpPr/>
          <p:nvPr/>
        </p:nvSpPr>
        <p:spPr>
          <a:xfrm>
            <a:off x="870966" y="1832174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2EF85D44-25D9-D7E9-7705-27C6E6EB12ED}"/>
              </a:ext>
            </a:extLst>
          </p:cNvPr>
          <p:cNvSpPr txBox="1"/>
          <p:nvPr/>
        </p:nvSpPr>
        <p:spPr>
          <a:xfrm>
            <a:off x="868234" y="1865900"/>
            <a:ext cx="335540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0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circuit.circom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--r1cs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wasm</a:t>
            </a:r>
            <a:r>
              <a:rPr lang="en-US" sz="1050">
                <a:solidFill>
                  <a:srgbClr val="232D41"/>
                </a:solidFill>
                <a:latin typeface="Consolas"/>
              </a:rPr>
              <a:t> --</a:t>
            </a:r>
            <a:r>
              <a:rPr lang="en-US" sz="1050" err="1">
                <a:solidFill>
                  <a:srgbClr val="232D41"/>
                </a:solidFill>
                <a:latin typeface="Consolas"/>
              </a:rPr>
              <a:t>sym</a:t>
            </a:r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19C229-71B3-92F3-CF48-3969672AEC3C}"/>
              </a:ext>
            </a:extLst>
          </p:cNvPr>
          <p:cNvSpPr/>
          <p:nvPr/>
        </p:nvSpPr>
        <p:spPr>
          <a:xfrm>
            <a:off x="445770" y="2237015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3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020EF529-7C8C-A8C5-826B-AC1E3168D1CD}"/>
              </a:ext>
            </a:extLst>
          </p:cNvPr>
          <p:cNvSpPr txBox="1"/>
          <p:nvPr/>
        </p:nvSpPr>
        <p:spPr>
          <a:xfrm>
            <a:off x="870966" y="2236741"/>
            <a:ext cx="2787707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Use </a:t>
            </a:r>
            <a:r>
              <a:rPr lang="en-US" sz="1350" b="1" err="1">
                <a:solidFill>
                  <a:srgbClr val="F28C35"/>
                </a:solidFill>
                <a:latin typeface="Calibri"/>
              </a:rPr>
              <a:t>snarkjs</a:t>
            </a:r>
            <a:r>
              <a:rPr lang="en-US" sz="1350" b="1">
                <a:solidFill>
                  <a:srgbClr val="161C2D"/>
                </a:solidFill>
                <a:latin typeface="Calibri"/>
              </a:rPr>
              <a:t> </a:t>
            </a:r>
            <a:r>
              <a:rPr lang="en-US" sz="1350" b="1">
                <a:solidFill>
                  <a:prstClr val="white"/>
                </a:solidFill>
                <a:latin typeface="Calibri"/>
              </a:rPr>
              <a:t>to compute your witness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95FBFAB5-C704-8485-9161-AF63D000AC61}"/>
              </a:ext>
            </a:extLst>
          </p:cNvPr>
          <p:cNvSpPr/>
          <p:nvPr/>
        </p:nvSpPr>
        <p:spPr>
          <a:xfrm>
            <a:off x="863544" y="2520300"/>
            <a:ext cx="4496592" cy="280615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CD3E5CAD-1A29-464A-AEB3-6AF56CACD08B}"/>
              </a:ext>
            </a:extLst>
          </p:cNvPr>
          <p:cNvSpPr txBox="1"/>
          <p:nvPr/>
        </p:nvSpPr>
        <p:spPr>
          <a:xfrm>
            <a:off x="853390" y="2570726"/>
            <a:ext cx="3682739" cy="184666"/>
          </a:xfrm>
          <a:prstGeom prst="rect">
            <a:avLst/>
          </a:prstGeom>
          <a:noFill/>
        </p:spPr>
        <p:txBody>
          <a:bodyPr wrap="non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node generate_witness.js multiplier2.wasm input.json witness.wtns</a:t>
            </a:r>
            <a:endParaRPr lang="en-US" sz="75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C17976-1E6B-6D76-5E14-74C2B4D10D47}"/>
              </a:ext>
            </a:extLst>
          </p:cNvPr>
          <p:cNvSpPr/>
          <p:nvPr/>
        </p:nvSpPr>
        <p:spPr>
          <a:xfrm>
            <a:off x="445770" y="3102429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4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21A3FFFF-CC95-5B30-3133-546EE19A3711}"/>
              </a:ext>
            </a:extLst>
          </p:cNvPr>
          <p:cNvSpPr txBox="1"/>
          <p:nvPr/>
        </p:nvSpPr>
        <p:spPr>
          <a:xfrm>
            <a:off x="870966" y="3122567"/>
            <a:ext cx="4491990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Generate a trusted setup and get your verification key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7646D438-F997-A11B-F0E4-EEEFAD021153}"/>
              </a:ext>
            </a:extLst>
          </p:cNvPr>
          <p:cNvSpPr/>
          <p:nvPr/>
        </p:nvSpPr>
        <p:spPr>
          <a:xfrm>
            <a:off x="863544" y="3377674"/>
            <a:ext cx="4526280" cy="488432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1C071CC9-0B67-F30E-EA83-FF00526D7F88}"/>
              </a:ext>
            </a:extLst>
          </p:cNvPr>
          <p:cNvSpPr txBox="1"/>
          <p:nvPr/>
        </p:nvSpPr>
        <p:spPr>
          <a:xfrm>
            <a:off x="860813" y="3374289"/>
            <a:ext cx="4505914" cy="807913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s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narkjs groth16 setup multiplier2.r1cs pot12_final.ptau multiplier2_0000.zkey</a:t>
            </a:r>
            <a:endParaRPr lang="en-US" sz="750">
              <a:solidFill>
                <a:srgbClr val="232D41"/>
              </a:solidFill>
              <a:latin typeface="Consolas"/>
            </a:endParaRP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snarkjs zkey contribute multiplier2_0000.zkey multiplier2_final.zkey </a:t>
            </a: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  --name="1st Contributor" -v</a:t>
            </a:r>
            <a:endParaRPr lang="en-US" sz="1350">
              <a:solidFill>
                <a:prstClr val="black"/>
              </a:solidFill>
              <a:latin typeface="Neue Haas Grotesk Text Pro"/>
            </a:endParaRPr>
          </a:p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$ snarkjs zkey export verificationkey multiplier2_final.zkey verification_key.json</a:t>
            </a:r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F1B23B-9772-B307-526B-0F8F2F09C105}"/>
              </a:ext>
            </a:extLst>
          </p:cNvPr>
          <p:cNvSpPr/>
          <p:nvPr/>
        </p:nvSpPr>
        <p:spPr>
          <a:xfrm>
            <a:off x="445770" y="4053543"/>
            <a:ext cx="315468" cy="3154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>
                    <a:lumMod val="76000"/>
                  </a:prstClr>
                </a:solidFill>
                <a:latin typeface="Calibri"/>
              </a:rPr>
              <a:t>5</a:t>
            </a:r>
            <a:endParaRPr lang="en-US" sz="1200" b="1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B9B96649-8611-5640-103A-34D6B1C51727}"/>
              </a:ext>
            </a:extLst>
          </p:cNvPr>
          <p:cNvSpPr txBox="1"/>
          <p:nvPr/>
        </p:nvSpPr>
        <p:spPr>
          <a:xfrm>
            <a:off x="863544" y="4053271"/>
            <a:ext cx="4512401" cy="27699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1350" b="1">
                <a:solidFill>
                  <a:prstClr val="white"/>
                </a:solidFill>
                <a:latin typeface="Calibri"/>
              </a:rPr>
              <a:t>Generateyour proof and validate it!</a:t>
            </a:r>
            <a:endParaRPr lang="en-US" sz="135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78F60473-249B-40A2-F4F1-A9A8AE5DAF7F}"/>
              </a:ext>
            </a:extLst>
          </p:cNvPr>
          <p:cNvSpPr/>
          <p:nvPr/>
        </p:nvSpPr>
        <p:spPr>
          <a:xfrm>
            <a:off x="870966" y="4405448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EF0C1202-B55D-1207-281D-C6830055F0C7}"/>
              </a:ext>
            </a:extLst>
          </p:cNvPr>
          <p:cNvSpPr txBox="1"/>
          <p:nvPr/>
        </p:nvSpPr>
        <p:spPr>
          <a:xfrm>
            <a:off x="890501" y="4461440"/>
            <a:ext cx="4476225" cy="346249"/>
          </a:xfrm>
          <a:prstGeom prst="rect">
            <a:avLst/>
          </a:prstGeom>
          <a:noFill/>
        </p:spPr>
        <p:txBody>
          <a:bodyPr wrap="non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snarkjs groth16 prove multiplier2_final.zkey witness.wtns proof.json public.json</a:t>
            </a:r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34" name="Rounded Rectangle 28">
            <a:extLst>
              <a:ext uri="{FF2B5EF4-FFF2-40B4-BE49-F238E27FC236}">
                <a16:creationId xmlns:a16="http://schemas.microsoft.com/office/drawing/2014/main" id="{2190524E-0329-795E-711E-01A74CB10014}"/>
              </a:ext>
            </a:extLst>
          </p:cNvPr>
          <p:cNvSpPr/>
          <p:nvPr/>
        </p:nvSpPr>
        <p:spPr>
          <a:xfrm>
            <a:off x="870966" y="4720916"/>
            <a:ext cx="4526280" cy="288036"/>
          </a:xfrm>
          <a:prstGeom prst="roundRect">
            <a:avLst/>
          </a:prstGeom>
          <a:solidFill>
            <a:srgbClr val="F0F3F7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6698B007-307C-E1A9-BC26-97E7E45C3ED3}"/>
              </a:ext>
            </a:extLst>
          </p:cNvPr>
          <p:cNvSpPr txBox="1"/>
          <p:nvPr/>
        </p:nvSpPr>
        <p:spPr>
          <a:xfrm>
            <a:off x="890501" y="4769486"/>
            <a:ext cx="3788538" cy="346249"/>
          </a:xfrm>
          <a:prstGeom prst="rect">
            <a:avLst/>
          </a:prstGeom>
          <a:noFill/>
        </p:spPr>
        <p:txBody>
          <a:bodyPr wrap="non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/>
            <a:r>
              <a:rPr lang="en-US" sz="750">
                <a:solidFill>
                  <a:srgbClr val="232D41"/>
                </a:solidFill>
                <a:latin typeface="Consolas"/>
              </a:rPr>
              <a:t>$ </a:t>
            </a:r>
            <a:r>
              <a:rPr lang="en-US" sz="750">
                <a:solidFill>
                  <a:srgbClr val="232D41"/>
                </a:solidFill>
                <a:latin typeface="Consolas"/>
                <a:ea typeface="+mn-lt"/>
                <a:cs typeface="+mn-lt"/>
              </a:rPr>
              <a:t>snarkjs groth16 verify verification_key.json public.json proof.json</a:t>
            </a:r>
            <a:endParaRPr lang="en-US" sz="750">
              <a:solidFill>
                <a:prstClr val="black"/>
              </a:solidFill>
              <a:latin typeface="Consolas"/>
            </a:endParaRPr>
          </a:p>
          <a:p>
            <a:pPr defTabSz="342900"/>
            <a:endParaRPr lang="en-US" sz="1050">
              <a:solidFill>
                <a:srgbClr val="232D41"/>
              </a:solidFill>
              <a:latin typeface="Consolas"/>
            </a:endParaRPr>
          </a:p>
        </p:txBody>
      </p:sp>
      <p:sp>
        <p:nvSpPr>
          <p:cNvPr id="42" name="Rounded Rectangle 36">
            <a:extLst>
              <a:ext uri="{FF2B5EF4-FFF2-40B4-BE49-F238E27FC236}">
                <a16:creationId xmlns:a16="http://schemas.microsoft.com/office/drawing/2014/main" id="{D8D9FEE9-14BA-1DB6-C9EF-3B19236A2F42}"/>
              </a:ext>
            </a:extLst>
          </p:cNvPr>
          <p:cNvSpPr/>
          <p:nvPr/>
        </p:nvSpPr>
        <p:spPr>
          <a:xfrm>
            <a:off x="6635659" y="961318"/>
            <a:ext cx="969917" cy="5557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 b="1">
                <a:solidFill>
                  <a:srgbClr val="161C2D"/>
                </a:solidFill>
                <a:latin typeface="Calibri"/>
              </a:rPr>
              <a:t>Circuit
Compiler
(</a:t>
            </a:r>
            <a:r>
              <a:rPr sz="1050" b="1" err="1">
                <a:solidFill>
                  <a:srgbClr val="161C2D"/>
                </a:solidFill>
                <a:latin typeface="Calibri"/>
              </a:rPr>
              <a:t>circom</a:t>
            </a:r>
            <a:r>
              <a:rPr sz="1050" b="1">
                <a:solidFill>
                  <a:srgbClr val="161C2D"/>
                </a:solidFill>
                <a:latin typeface="Calibri"/>
              </a:rPr>
              <a:t>)</a:t>
            </a:r>
          </a:p>
        </p:txBody>
      </p: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D2891650-9B70-A635-824D-358D0A5F65E7}"/>
              </a:ext>
            </a:extLst>
          </p:cNvPr>
          <p:cNvSpPr/>
          <p:nvPr/>
        </p:nvSpPr>
        <p:spPr>
          <a:xfrm>
            <a:off x="6832962" y="1988929"/>
            <a:ext cx="1337310" cy="6172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 b="1">
                <a:solidFill>
                  <a:srgbClr val="161C2D"/>
                </a:solidFill>
                <a:latin typeface="Calibri"/>
              </a:rPr>
              <a:t>Crypto
Compiler
(snarkjs)</a:t>
            </a:r>
          </a:p>
        </p:txBody>
      </p:sp>
      <p:sp>
        <p:nvSpPr>
          <p:cNvPr id="44" name="TextBox 38">
            <a:extLst>
              <a:ext uri="{FF2B5EF4-FFF2-40B4-BE49-F238E27FC236}">
                <a16:creationId xmlns:a16="http://schemas.microsoft.com/office/drawing/2014/main" id="{92EF30E9-41B8-A5D8-7EE4-14FB13A35BDF}"/>
              </a:ext>
            </a:extLst>
          </p:cNvPr>
          <p:cNvSpPr txBox="1"/>
          <p:nvPr/>
        </p:nvSpPr>
        <p:spPr>
          <a:xfrm>
            <a:off x="6832962" y="2660468"/>
            <a:ext cx="1337310" cy="207749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900">
                <a:solidFill>
                  <a:prstClr val="white">
                    <a:lumMod val="85000"/>
                  </a:prstClr>
                </a:solidFill>
                <a:latin typeface="Calibri"/>
              </a:rPr>
              <a:t>(Trusted Setup)</a:t>
            </a:r>
            <a:endParaRPr lang="en-US" sz="900">
              <a:solidFill>
                <a:prstClr val="white">
                  <a:lumMod val="85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TextBox 41">
            <a:extLst>
              <a:ext uri="{FF2B5EF4-FFF2-40B4-BE49-F238E27FC236}">
                <a16:creationId xmlns:a16="http://schemas.microsoft.com/office/drawing/2014/main" id="{5B58140F-595F-B0AA-1152-4A18F79BE063}"/>
              </a:ext>
            </a:extLst>
          </p:cNvPr>
          <p:cNvSpPr txBox="1"/>
          <p:nvPr/>
        </p:nvSpPr>
        <p:spPr>
          <a:xfrm>
            <a:off x="6113145" y="3049905"/>
            <a:ext cx="1165860" cy="3924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050">
                <a:solidFill>
                  <a:prstClr val="white">
                    <a:lumMod val="76000"/>
                  </a:prstClr>
                </a:solidFill>
                <a:latin typeface="Calibri"/>
              </a:rPr>
              <a:t>Proving
key</a:t>
            </a: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F352984B-814C-9D1F-B265-C8A7694D85A4}"/>
              </a:ext>
            </a:extLst>
          </p:cNvPr>
          <p:cNvSpPr txBox="1"/>
          <p:nvPr/>
        </p:nvSpPr>
        <p:spPr>
          <a:xfrm>
            <a:off x="7940583" y="3179173"/>
            <a:ext cx="866504" cy="3924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white">
                    <a:lumMod val="76000"/>
                  </a:prstClr>
                </a:solidFill>
                <a:latin typeface="Calibri"/>
              </a:rPr>
              <a:t>Validation
key</a:t>
            </a:r>
            <a:endParaRPr lang="en-US" sz="1050">
              <a:solidFill>
                <a:prstClr val="white">
                  <a:lumMod val="76000"/>
                </a:prst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47">
            <a:extLst>
              <a:ext uri="{FF2B5EF4-FFF2-40B4-BE49-F238E27FC236}">
                <a16:creationId xmlns:a16="http://schemas.microsoft.com/office/drawing/2014/main" id="{ED0BDC32-9E59-F0FF-2293-D3177729EEAF}"/>
              </a:ext>
            </a:extLst>
          </p:cNvPr>
          <p:cNvSpPr txBox="1"/>
          <p:nvPr/>
        </p:nvSpPr>
        <p:spPr>
          <a:xfrm>
            <a:off x="5407206" y="3333098"/>
            <a:ext cx="1577340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sz="1200" b="1">
                <a:solidFill>
                  <a:prstClr val="white"/>
                </a:solidFill>
                <a:latin typeface="Calibri"/>
              </a:rPr>
              <a:t>Inputs</a:t>
            </a:r>
            <a:endParaRPr lang="en-US" sz="1200" b="1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TextBox 48">
            <a:extLst>
              <a:ext uri="{FF2B5EF4-FFF2-40B4-BE49-F238E27FC236}">
                <a16:creationId xmlns:a16="http://schemas.microsoft.com/office/drawing/2014/main" id="{F18B838B-3362-62ED-FFFC-68A44C776698}"/>
              </a:ext>
            </a:extLst>
          </p:cNvPr>
          <p:cNvSpPr txBox="1"/>
          <p:nvPr/>
        </p:nvSpPr>
        <p:spPr>
          <a:xfrm>
            <a:off x="5577295" y="3485061"/>
            <a:ext cx="1237163" cy="230832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srgbClr val="161C2D"/>
                </a:solidFill>
                <a:latin typeface="Calibri"/>
                <a:ea typeface="Calibri"/>
                <a:cs typeface="Calibri"/>
              </a:rPr>
              <a:t>( </a:t>
            </a:r>
            <a:r>
              <a:rPr lang="en-US" sz="1050" b="1">
                <a:solidFill>
                  <a:srgbClr val="26A050"/>
                </a:solidFill>
                <a:latin typeface="Calibri"/>
                <a:ea typeface="Calibri"/>
                <a:cs typeface="Calibri"/>
              </a:rPr>
              <a:t>public</a:t>
            </a:r>
            <a:r>
              <a:rPr lang="en-US" sz="1050">
                <a:solidFill>
                  <a:srgbClr val="161C2D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b="1">
                <a:solidFill>
                  <a:srgbClr val="D74848"/>
                </a:solidFill>
                <a:latin typeface="Calibri"/>
                <a:ea typeface="Calibri"/>
                <a:cs typeface="Calibri"/>
              </a:rPr>
              <a:t>private</a:t>
            </a:r>
            <a:r>
              <a:rPr lang="en-US" sz="1050">
                <a:solidFill>
                  <a:srgbClr val="161C2D"/>
                </a:solidFill>
                <a:latin typeface="Calibri"/>
                <a:ea typeface="Calibri"/>
                <a:cs typeface="Calibri"/>
              </a:rPr>
              <a:t> )</a:t>
            </a:r>
          </a:p>
        </p:txBody>
      </p:sp>
      <p:sp>
        <p:nvSpPr>
          <p:cNvPr id="55" name="Rounded Rectangle 49">
            <a:extLst>
              <a:ext uri="{FF2B5EF4-FFF2-40B4-BE49-F238E27FC236}">
                <a16:creationId xmlns:a16="http://schemas.microsoft.com/office/drawing/2014/main" id="{7FE15BBE-8742-578B-E0F9-456CE1B7C12D}"/>
              </a:ext>
            </a:extLst>
          </p:cNvPr>
          <p:cNvSpPr/>
          <p:nvPr/>
        </p:nvSpPr>
        <p:spPr>
          <a:xfrm>
            <a:off x="5915842" y="3980633"/>
            <a:ext cx="1405889" cy="5829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 b="1">
                <a:solidFill>
                  <a:srgbClr val="161C2D"/>
                </a:solidFill>
                <a:latin typeface="Calibri"/>
              </a:rPr>
              <a:t>Crypto
Compiler
(snarkjs)</a:t>
            </a:r>
          </a:p>
        </p:txBody>
      </p:sp>
      <p:sp>
        <p:nvSpPr>
          <p:cNvPr id="56" name="Rounded Rectangle 50">
            <a:extLst>
              <a:ext uri="{FF2B5EF4-FFF2-40B4-BE49-F238E27FC236}">
                <a16:creationId xmlns:a16="http://schemas.microsoft.com/office/drawing/2014/main" id="{49D21535-ABEE-4A07-82AB-F0EE31673E66}"/>
              </a:ext>
            </a:extLst>
          </p:cNvPr>
          <p:cNvSpPr/>
          <p:nvPr/>
        </p:nvSpPr>
        <p:spPr>
          <a:xfrm>
            <a:off x="7640139" y="3980633"/>
            <a:ext cx="1405889" cy="5829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 b="1">
                <a:solidFill>
                  <a:srgbClr val="161C2D"/>
                </a:solidFill>
                <a:latin typeface="Calibri"/>
              </a:rPr>
              <a:t>Crypto
Compiler
(snarkjs)</a:t>
            </a:r>
          </a:p>
        </p:txBody>
      </p:sp>
      <p:sp>
        <p:nvSpPr>
          <p:cNvPr id="61" name="TextBox 55">
            <a:extLst>
              <a:ext uri="{FF2B5EF4-FFF2-40B4-BE49-F238E27FC236}">
                <a16:creationId xmlns:a16="http://schemas.microsoft.com/office/drawing/2014/main" id="{80D00283-FF0B-09C3-4A9E-CF67DF1C13F1}"/>
              </a:ext>
            </a:extLst>
          </p:cNvPr>
          <p:cNvSpPr txBox="1"/>
          <p:nvPr/>
        </p:nvSpPr>
        <p:spPr>
          <a:xfrm>
            <a:off x="5915842" y="4852308"/>
            <a:ext cx="140588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200">
                <a:solidFill>
                  <a:prstClr val="white"/>
                </a:solidFill>
                <a:latin typeface="Calibri"/>
              </a:rPr>
              <a:t>ZK-SNARK Proof</a:t>
            </a:r>
            <a:r>
              <a:rPr sz="1200">
                <a:solidFill>
                  <a:prstClr val="white"/>
                </a:solidFill>
                <a:latin typeface="Calibri"/>
              </a:rPr>
              <a:t> π</a:t>
            </a:r>
            <a:endParaRPr lang="en-US"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58">
            <a:extLst>
              <a:ext uri="{FF2B5EF4-FFF2-40B4-BE49-F238E27FC236}">
                <a16:creationId xmlns:a16="http://schemas.microsoft.com/office/drawing/2014/main" id="{3A9F1EBC-F9D6-EF86-8715-5BAABC129D90}"/>
              </a:ext>
            </a:extLst>
          </p:cNvPr>
          <p:cNvSpPr txBox="1"/>
          <p:nvPr/>
        </p:nvSpPr>
        <p:spPr>
          <a:xfrm>
            <a:off x="7708175" y="4865914"/>
            <a:ext cx="1405889" cy="253916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Verifier 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D44623A-967C-40F0-FF33-679DDD3D8231}"/>
              </a:ext>
            </a:extLst>
          </p:cNvPr>
          <p:cNvSpPr/>
          <p:nvPr/>
        </p:nvSpPr>
        <p:spPr>
          <a:xfrm>
            <a:off x="980694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50F1D2A-D1A8-EACC-01F6-AA7E938F2027}"/>
              </a:ext>
            </a:extLst>
          </p:cNvPr>
          <p:cNvSpPr/>
          <p:nvPr/>
        </p:nvSpPr>
        <p:spPr>
          <a:xfrm>
            <a:off x="1004697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FA08A3C-72D5-34B3-27DF-27B5DAA48E37}"/>
              </a:ext>
            </a:extLst>
          </p:cNvPr>
          <p:cNvSpPr/>
          <p:nvPr/>
        </p:nvSpPr>
        <p:spPr>
          <a:xfrm>
            <a:off x="1028700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96E0714-ADE7-9163-6C77-08B276EA4E38}"/>
              </a:ext>
            </a:extLst>
          </p:cNvPr>
          <p:cNvSpPr/>
          <p:nvPr/>
        </p:nvSpPr>
        <p:spPr>
          <a:xfrm>
            <a:off x="10527030" y="4786884"/>
            <a:ext cx="192024" cy="150876"/>
          </a:xfrm>
          <a:prstGeom prst="rect">
            <a:avLst/>
          </a:prstGeom>
          <a:solidFill>
            <a:srgbClr val="D2DCEB"/>
          </a:solidFill>
          <a:ln>
            <a:solidFill>
              <a:srgbClr val="AA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endParaRPr sz="1350">
              <a:solidFill>
                <a:prstClr val="white"/>
              </a:solidFill>
              <a:latin typeface="Neue Haas Grotesk Text Pro"/>
            </a:endParaRP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15A6075F-CAEA-E0BC-8E80-DCC0FDC6F5FA}"/>
              </a:ext>
            </a:extLst>
          </p:cNvPr>
          <p:cNvSpPr>
            <a:spLocks noGrp="1"/>
          </p:cNvSpPr>
          <p:nvPr/>
        </p:nvSpPr>
        <p:spPr>
          <a:xfrm>
            <a:off x="445879" y="261801"/>
            <a:ext cx="5554505" cy="522623"/>
          </a:xfrm>
          <a:prstGeom prst="rect">
            <a:avLst/>
          </a:prstGeom>
          <a:noFill/>
        </p:spPr>
        <p:txBody>
          <a:bodyPr vert="horz" lIns="68580" tIns="34290" rIns="68580" bIns="3429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lnSpc>
                <a:spcPct val="100000"/>
              </a:lnSpc>
              <a:spcBef>
                <a:spcPts val="0"/>
              </a:spcBef>
            </a:pPr>
            <a:r>
              <a:rPr lang="en-US" sz="2700" b="0">
                <a:solidFill>
                  <a:srgbClr val="FA9A42">
                    <a:lumMod val="76000"/>
                  </a:srgbClr>
                </a:solidFill>
                <a:latin typeface="Neue Haas Grotesk Text Pro"/>
                <a:ea typeface="Calibri"/>
                <a:cs typeface="Calibri"/>
              </a:rPr>
              <a:t>CIRCOM &amp; SNARKJS</a:t>
            </a:r>
          </a:p>
        </p:txBody>
      </p:sp>
      <p:sp>
        <p:nvSpPr>
          <p:cNvPr id="2" name="Rounded Rectangle 36">
            <a:extLst>
              <a:ext uri="{FF2B5EF4-FFF2-40B4-BE49-F238E27FC236}">
                <a16:creationId xmlns:a16="http://schemas.microsoft.com/office/drawing/2014/main" id="{203C2230-1865-0A59-7554-06D75356A268}"/>
              </a:ext>
            </a:extLst>
          </p:cNvPr>
          <p:cNvSpPr/>
          <p:nvPr/>
        </p:nvSpPr>
        <p:spPr>
          <a:xfrm>
            <a:off x="5268140" y="940906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High-level circuit  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050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  <a:p>
            <a:pPr algn="ctr" defTabSz="342900"/>
            <a:endParaRPr lang="en-US" sz="1050" b="1">
              <a:solidFill>
                <a:srgbClr val="161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ounded Rectangle 36">
            <a:extLst>
              <a:ext uri="{FF2B5EF4-FFF2-40B4-BE49-F238E27FC236}">
                <a16:creationId xmlns:a16="http://schemas.microsoft.com/office/drawing/2014/main" id="{B0420E61-91A8-0047-5BBC-6E520D3EF0BE}"/>
              </a:ext>
            </a:extLst>
          </p:cNvPr>
          <p:cNvSpPr/>
          <p:nvPr/>
        </p:nvSpPr>
        <p:spPr>
          <a:xfrm>
            <a:off x="8057604" y="913691"/>
            <a:ext cx="963114" cy="6101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/>
            <a:r>
              <a:rPr lang="en-US" sz="1050">
                <a:solidFill>
                  <a:prstClr val="black"/>
                </a:solidFill>
                <a:latin typeface="Calibri"/>
              </a:rPr>
              <a:t>Low-level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circuit</a:t>
            </a:r>
            <a:br>
              <a:rPr lang="en-US" sz="1050">
                <a:solidFill>
                  <a:prstClr val="black"/>
                </a:solidFill>
                <a:latin typeface="Calibri"/>
              </a:rPr>
            </a:br>
            <a:r>
              <a:rPr lang="en-US" sz="1050">
                <a:solidFill>
                  <a:prstClr val="black"/>
                </a:solidFill>
                <a:latin typeface="Calibri"/>
              </a:rPr>
              <a:t>description</a:t>
            </a:r>
            <a:endParaRPr lang="en-US" sz="1350">
              <a:solidFill>
                <a:prstClr val="black"/>
              </a:solidFill>
              <a:latin typeface="Neue Haas Grotesk Text Pro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B6D6E4-194C-0A4A-CE81-749FAF0C934C}"/>
              </a:ext>
            </a:extLst>
          </p:cNvPr>
          <p:cNvCxnSpPr/>
          <p:nvPr/>
        </p:nvCxnSpPr>
        <p:spPr>
          <a:xfrm>
            <a:off x="6241348" y="1253712"/>
            <a:ext cx="379145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095D59-80F1-8425-86A3-BE14855D12BB}"/>
              </a:ext>
            </a:extLst>
          </p:cNvPr>
          <p:cNvCxnSpPr>
            <a:cxnSpLocks/>
          </p:cNvCxnSpPr>
          <p:nvPr/>
        </p:nvCxnSpPr>
        <p:spPr>
          <a:xfrm>
            <a:off x="7615669" y="1253712"/>
            <a:ext cx="406358" cy="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C2B63D-5845-ACC1-B3A0-803211F7BFB0}"/>
              </a:ext>
            </a:extLst>
          </p:cNvPr>
          <p:cNvCxnSpPr>
            <a:cxnSpLocks/>
          </p:cNvCxnSpPr>
          <p:nvPr/>
        </p:nvCxnSpPr>
        <p:spPr>
          <a:xfrm>
            <a:off x="7738134" y="2879765"/>
            <a:ext cx="576446" cy="1055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24E353-6400-0719-72D4-7817AD195F6D}"/>
              </a:ext>
            </a:extLst>
          </p:cNvPr>
          <p:cNvCxnSpPr>
            <a:cxnSpLocks/>
          </p:cNvCxnSpPr>
          <p:nvPr/>
        </p:nvCxnSpPr>
        <p:spPr>
          <a:xfrm flipH="1">
            <a:off x="6715740" y="2879766"/>
            <a:ext cx="580161" cy="1082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799D90-AEB1-AE49-C63F-33299E9DDD80}"/>
              </a:ext>
            </a:extLst>
          </p:cNvPr>
          <p:cNvCxnSpPr>
            <a:cxnSpLocks/>
          </p:cNvCxnSpPr>
          <p:nvPr/>
        </p:nvCxnSpPr>
        <p:spPr>
          <a:xfrm flipH="1">
            <a:off x="7504956" y="1546265"/>
            <a:ext cx="518927" cy="415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0062E6-D782-79F9-4D8A-D02890E18153}"/>
              </a:ext>
            </a:extLst>
          </p:cNvPr>
          <p:cNvCxnSpPr>
            <a:cxnSpLocks/>
          </p:cNvCxnSpPr>
          <p:nvPr/>
        </p:nvCxnSpPr>
        <p:spPr>
          <a:xfrm flipH="1">
            <a:off x="6402778" y="3675782"/>
            <a:ext cx="1855" cy="306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B86A6E-4F7B-2AC1-75DD-6954A033837C}"/>
              </a:ext>
            </a:extLst>
          </p:cNvPr>
          <p:cNvCxnSpPr>
            <a:cxnSpLocks/>
          </p:cNvCxnSpPr>
          <p:nvPr/>
        </p:nvCxnSpPr>
        <p:spPr>
          <a:xfrm flipH="1">
            <a:off x="6586474" y="4580657"/>
            <a:ext cx="1855" cy="306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D42B38-4C1D-52D2-F509-7BFFD7EF031A}"/>
              </a:ext>
            </a:extLst>
          </p:cNvPr>
          <p:cNvCxnSpPr>
            <a:cxnSpLocks/>
          </p:cNvCxnSpPr>
          <p:nvPr/>
        </p:nvCxnSpPr>
        <p:spPr>
          <a:xfrm flipH="1">
            <a:off x="8375813" y="4580656"/>
            <a:ext cx="1855" cy="306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7" name="Picture 36" descr="A black and white logo&#10;&#10;AI-generated content may be incorrect.">
            <a:extLst>
              <a:ext uri="{FF2B5EF4-FFF2-40B4-BE49-F238E27FC236}">
                <a16:creationId xmlns:a16="http://schemas.microsoft.com/office/drawing/2014/main" id="{CEFB8ED0-ADAA-FEE5-7F2E-DA75BA87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5" y="233631"/>
            <a:ext cx="1022393" cy="366484"/>
          </a:xfrm>
          <a:prstGeom prst="rect">
            <a:avLst/>
          </a:prstGeom>
        </p:spPr>
      </p:pic>
      <p:pic>
        <p:nvPicPr>
          <p:cNvPr id="41" name="Picture 40" descr="Indian Statistical... - Indian Statistical Institute, Kolkata">
            <a:extLst>
              <a:ext uri="{FF2B5EF4-FFF2-40B4-BE49-F238E27FC236}">
                <a16:creationId xmlns:a16="http://schemas.microsoft.com/office/drawing/2014/main" id="{C56C4C78-236E-69A2-BC68-23FE5C8E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138" y="26534"/>
            <a:ext cx="629332" cy="681719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78F08F3-FEDF-45EC-255C-DA43632EE0C1}"/>
              </a:ext>
            </a:extLst>
          </p:cNvPr>
          <p:cNvCxnSpPr/>
          <p:nvPr/>
        </p:nvCxnSpPr>
        <p:spPr>
          <a:xfrm>
            <a:off x="8002237" y="179367"/>
            <a:ext cx="619" cy="42243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56CEFB-E947-8C86-E6D0-F20AEAC3C477}"/>
              </a:ext>
            </a:extLst>
          </p:cNvPr>
          <p:cNvCxnSpPr>
            <a:cxnSpLocks/>
          </p:cNvCxnSpPr>
          <p:nvPr/>
        </p:nvCxnSpPr>
        <p:spPr>
          <a:xfrm flipV="1">
            <a:off x="7211783" y="4620242"/>
            <a:ext cx="450892" cy="3092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35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7b47e9-278f-434c-ae02-8d30f713a7e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F4AE6C45170D42B43D3FAC2FB4D531" ma:contentTypeVersion="11" ma:contentTypeDescription="Create a new document." ma:contentTypeScope="" ma:versionID="5ac5acdc5414855f45ca391ae2e47b10">
  <xsd:schema xmlns:xsd="http://www.w3.org/2001/XMLSchema" xmlns:xs="http://www.w3.org/2001/XMLSchema" xmlns:p="http://schemas.microsoft.com/office/2006/metadata/properties" xmlns:ns3="7a7b47e9-278f-434c-ae02-8d30f713a7eb" xmlns:ns4="b73a529f-c546-4814-b440-3c9daceb1513" targetNamespace="http://schemas.microsoft.com/office/2006/metadata/properties" ma:root="true" ma:fieldsID="b3c727c40c534c138ef00a7065e15264" ns3:_="" ns4:_="">
    <xsd:import namespace="7a7b47e9-278f-434c-ae02-8d30f713a7eb"/>
    <xsd:import namespace="b73a529f-c546-4814-b440-3c9daceb151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MigrationSourceID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7b47e9-278f-434c-ae02-8d30f713a7e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a529f-c546-4814-b440-3c9daceb1513" elementFormDefault="qualified">
    <xsd:import namespace="http://schemas.microsoft.com/office/2006/documentManagement/types"/>
    <xsd:import namespace="http://schemas.microsoft.com/office/infopath/2007/PartnerControls"/>
    <xsd:element name="MigrationSourceID" ma:index="17" nillable="true" ma:displayName="MigrationSourceID" ma:internalName="MigrationSourceID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66015-0A8A-47E7-9706-D77CBF854E38}">
  <ds:schemaRefs>
    <ds:schemaRef ds:uri="http://schemas.openxmlformats.org/package/2006/metadata/core-properties"/>
    <ds:schemaRef ds:uri="b73a529f-c546-4814-b440-3c9daceb1513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7a7b47e9-278f-434c-ae02-8d30f713a7e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8C0D7C3-7A60-4C76-AE94-A119EE509F18}">
  <ds:schemaRefs>
    <ds:schemaRef ds:uri="7a7b47e9-278f-434c-ae02-8d30f713a7eb"/>
    <ds:schemaRef ds:uri="b73a529f-c546-4814-b440-3c9daceb15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8F1215-7A34-441B-8205-8335A54563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2428</Words>
  <Application>Microsoft Office PowerPoint</Application>
  <PresentationFormat>On-screen Show (16:9)</PresentationFormat>
  <Paragraphs>564</Paragraphs>
  <Slides>36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Arial</vt:lpstr>
      <vt:lpstr>Calibri</vt:lpstr>
      <vt:lpstr>Consolas</vt:lpstr>
      <vt:lpstr>Neue Haas Grotesk Text Pro</vt:lpstr>
      <vt:lpstr>Selawik</vt:lpstr>
      <vt:lpstr>Office Theme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Lab: Zero-Knowledge Attribute Proofs</dc:title>
  <dc:subject>PptxGenJS Presentation</dc:subject>
  <dc:creator>Fortytwo Labs</dc:creator>
  <cp:lastModifiedBy>Debrup Chatterjee</cp:lastModifiedBy>
  <cp:revision>1</cp:revision>
  <dcterms:created xsi:type="dcterms:W3CDTF">2026-02-19T07:15:47Z</dcterms:created>
  <dcterms:modified xsi:type="dcterms:W3CDTF">2026-02-27T06:12:11Z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0x010100FBF4AE6C45170D42B43D3FAC2FB4D531</vt:lpwstr>
  </property>
</Properties>
</file>